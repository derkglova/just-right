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Inter" panose="02000503000000020004" pitchFamily="34" charset="0"/>
      <p:regular r:id="rId20"/>
      <p:bold r:id="rId21"/>
    </p:embeddedFont>
    <p:embeddedFont>
      <p:font typeface="JetBrains Mono" panose="02000009000000000000" pitchFamily="49" charset="0"/>
      <p:regular r:id="rId22"/>
      <p:bold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Beginathon from MMU Cyberjaya. Our project is Just Right, an AI bake planner that tells a small bakery or café how much of each item to bake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single day, Malaysians throw away about 6,000 tonnes of food that could still be eaten. That’s around 240 lorry loads, every day, and it went up from about 5,000 tonnes the year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bread is a big part of the story. Research from Norway found that up to 35 percent of bread waste happens in bakeries and shops, before the bread even reaches a home. When researchers asked bakeries why, they pointed to the same thing: demand is hard to predict, so they guess, and order quantities end up wrong. We couldn’t find any published numbers for Malaysian bakeries, so we went to ask them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did. Here’s our team at La Boheme with one of the bakers who took the time to talk to us. We visited three bakeries and asked the staff two questions: how do you decide how much to bake, and what happens to the bread that doesn’t 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three bakeries told us. At Bakefield, an independent bakery, they told us they don’t know how to calculate how much to bake, so they estimate, and give a small discount on leftovers at closing. La Boheme is a chain: they follow a policy based on past quantities and sales, but they still discount unsold bread every day. Hokkaido bakes a new batch when one sells out and sends leftovers back to their factory. So the chains have systems and backing. The independent bakery, with thin margins, is just guessing. That is who we built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what we learned. Every evening, a small bakery guesses how much to bake tomorrow. Bake too much and the leftovers are discounted or thrown away. Bake too little and the shelves are empty by lunch, and customers walk out. They have no analyst and no forecasting tool, only rule of thumb. The waste isn’t because staff don’t care. It’s a planning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key insight. The two mistakes don’t cost the same. If a croissant is thrown away, you lose about RM 2, its ingredient cost. If you run out and a customer can’t buy one, you lose about RM 6 of profit. So zero waste is actually the wrong goal. Baking a little extra of a high-margin item is worth it. Just Right finds the right amount for each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Right is a Telegram bot plus a web dashboard. We chose Telegram because staff already have it on their phones, so there is nothing new to install. Step one: at closing, staff tap in how many of each item are left, and if something sold out, roughly what time. Step two: overnight, the AI learns from that and plans tomorrow’s quantity for each item, with a plain-language reason. Step three: at 2 PM the manager gets one message with the plan and taps Approve or Edit. Only the manager can do this. Step four: the baker gets the final list. Everything is logged, and the manager can see waste in ringgit on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the AI work? First, for each item a small machine-learning model learns how demand depends on the day of the week and the weather, using live forecasts from Open-Meteo. It retrains every night, so it picks up each shop’s own pattern. Second, when an item sells out early, sales understate what people wanted, so we scale demand up based on how early it ran out. Third, a newsvendor rule uses the price and the cost to pick the quantity, and we cap changes at 15 percent a day so the plan never jumps wildly. The model also checks itself: on our sample data it misses by about 2.4 pieces per item per day, compared to 3.2 for a simple average. That data is simulated, so this shows the method, not real shop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manager’s dashboard, live on Replit. It shows the waste this week in ringgit and what caused it, today’s plan, and tomorrow’s plan and whether it has been approved. Now let me show it working on Telegram. [Switch to the screen recording: send /plan, show the plan with reasons, tap Approve, show the baker receiving the list, then the activity log on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impact: in our sample bakery, baking the usual fixed batch wastes about RM 340 a week across three items. Our target is 20 percent less waste in ringgit, without more sell-outs. This supports SDG 8, target 8.2, helping small businesses become more productive with technology, and SDG 12, target 12.3, halving food waste at the retail level by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 stack is deliberately simple. The bot uses pyTelegramBotAPI. The forecast is Python with scikit-learn and free weather from Open-Meteo. The dashboard is Flask with SQLite, and a scheduler sends the plan at 2 PM. It all runs as one always-on app on Replit Deployments, with our tokens kept in Replit Secrets. It is designed as a module for Orbyte; for the hackathon the POS sales data 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want to pilot Just Right with a real independent bakery for a month, connect live sales from Orbyte’s POS instead of sample data, and extend it to cafés, kuih stalls and other fresh-food businesses. Small bakeries shouldn’t have to guess. Thank you, we are team Beginathon.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8172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26251E"/>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212280"/>
            <a:ext cx="10566400" cy="3832920"/>
          </a:xfrm>
          <a:prstGeom prst="rect">
            <a:avLst/>
          </a:prstGeom>
          <a:noFill/>
          <a:ln/>
        </p:spPr>
        <p:txBody>
          <a:bodyPr wrap="square" lIns="0" tIns="0" rIns="0" bIns="0" rtlCol="0" anchor="t"/>
          <a:lstStyle>
            <a:lvl1pPr algn="l" indent="0" marL="0">
              <a:lnSpc>
                <a:spcPct val="140000"/>
              </a:lnSpc>
              <a:buNone/>
              <a:defRPr lang="en-US" sz="1600" dirty="0">
                <a:solidFill>
                  <a:srgbClr val="26251E"/>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8172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26251E"/>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212280"/>
            <a:ext cx="10566400" cy="3832920"/>
          </a:xfrm>
          <a:prstGeom prst="rect">
            <a:avLst/>
          </a:prstGeom>
          <a:noFill/>
          <a:ln/>
        </p:spPr>
        <p:txBody>
          <a:bodyPr wrap="square" lIns="0" tIns="0" rIns="0" bIns="0" rtlCol="0" anchor="t"/>
          <a:lstStyle>
            <a:lvl1pPr algn="l" indent="0" marL="0">
              <a:lnSpc>
                <a:spcPct val="140000"/>
              </a:lnSpc>
              <a:buNone/>
              <a:defRPr lang="en-US" sz="1600" dirty="0">
                <a:solidFill>
                  <a:srgbClr val="26251E"/>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image" Target="../media/image-5-3.jpe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800" y="20955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4200"/>
                </a:solidFill>
                <a:latin typeface="Inter" pitchFamily="34" charset="0"/>
                <a:ea typeface="Inter" pitchFamily="34" charset="-122"/>
                <a:cs typeface="Inter" pitchFamily="34" charset="-120"/>
              </a:rPr>
              <a:t>SDC HACKATHON 2026 · DOMAIN 2 · ORBYTE SMART SME</a:t>
            </a:r>
            <a:endParaRPr lang="en-US" sz="1200" dirty="0"/>
          </a:p>
        </p:txBody>
      </p:sp>
      <p:sp>
        <p:nvSpPr>
          <p:cNvPr id="3" name="Text 1"/>
          <p:cNvSpPr/>
          <p:nvPr>
            <p:ph type="title"/>
          </p:nvPr>
        </p:nvSpPr>
        <p:spPr>
          <a:xfrm>
            <a:off x="812800" y="256287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0" i="0" spc="-200" kern="0" dirty="0">
                <a:solidFill>
                  <a:srgbClr val="26251E"/>
                </a:solidFill>
                <a:latin typeface="Inter" pitchFamily="34" charset="0"/>
                <a:ea typeface="Inter" pitchFamily="34" charset="-122"/>
                <a:cs typeface="Inter" pitchFamily="34" charset="-120"/>
              </a:rPr>
              <a:t>Just Right</a:t>
            </a:r>
            <a:endParaRPr lang="en-US" sz="8000" dirty="0"/>
          </a:p>
        </p:txBody>
      </p:sp>
      <p:sp>
        <p:nvSpPr>
          <p:cNvPr id="4" name="Text 2"/>
          <p:cNvSpPr/>
          <p:nvPr/>
        </p:nvSpPr>
        <p:spPr>
          <a:xfrm>
            <a:off x="812800" y="3832870"/>
            <a:ext cx="850265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5A5852"/>
                </a:solidFill>
                <a:latin typeface="Inter" pitchFamily="34" charset="0"/>
                <a:ea typeface="Inter" pitchFamily="34" charset="-122"/>
                <a:cs typeface="Inter" pitchFamily="34" charset="-120"/>
              </a:rPr>
              <a:t>An AI bake planner that tells small bakeries how much of each item to bake tomorrow.</a:t>
            </a:r>
            <a:endParaRPr lang="en-US" sz="22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852"/>
                </a:solidFill>
                <a:latin typeface="Inter" pitchFamily="34" charset="0"/>
                <a:ea typeface="Inter" pitchFamily="34" charset="-122"/>
                <a:cs typeface="Inter" pitchFamily="34" charset="-120"/>
              </a:rPr>
              <a:t>Team Beginathon · Derek Chay Wen Hong &amp; Tan Jun Hao · Multimedia University, Cyberjaya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6251E"/>
        </a:solidFill>
      </p:bgPr>
    </p:bg>
    <p:spTree>
      <p:nvGrpSpPr>
        <p:cNvPr id="1" name=""/>
        <p:cNvGrpSpPr/>
        <p:nvPr/>
      </p:nvGrpSpPr>
      <p:grpSpPr>
        <a:xfrm>
          <a:off x="0" y="0"/>
          <a:ext cx="0" cy="0"/>
          <a:chOff x="0" y="0"/>
          <a:chExt cx="0" cy="0"/>
        </a:xfrm>
      </p:grpSpPr>
      <p:sp>
        <p:nvSpPr>
          <p:cNvPr id="2" name="Text 0"/>
          <p:cNvSpPr/>
          <p:nvPr/>
        </p:nvSpPr>
        <p:spPr>
          <a:xfrm>
            <a:off x="812800" y="19685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7A46F"/>
                </a:solidFill>
                <a:latin typeface="Inter" pitchFamily="34" charset="0"/>
                <a:ea typeface="Inter" pitchFamily="34" charset="-122"/>
                <a:cs typeface="Inter" pitchFamily="34" charset="-120"/>
              </a:rPr>
              <a:t>EVERY SINGLE DAY IN MALAYSIA</a:t>
            </a:r>
            <a:endParaRPr lang="en-US" sz="1200" dirty="0"/>
          </a:p>
        </p:txBody>
      </p:sp>
      <p:sp>
        <p:nvSpPr>
          <p:cNvPr id="3" name="Text 1"/>
          <p:cNvSpPr/>
          <p:nvPr>
            <p:ph type="title"/>
          </p:nvPr>
        </p:nvSpPr>
        <p:spPr>
          <a:xfrm>
            <a:off x="812800" y="2435870"/>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0" i="0" spc="-300" kern="0" dirty="0">
                <a:solidFill>
                  <a:srgbClr val="F7F7F4"/>
                </a:solidFill>
                <a:latin typeface="Inter" pitchFamily="34" charset="0"/>
                <a:ea typeface="Inter" pitchFamily="34" charset="-122"/>
                <a:cs typeface="Inter" pitchFamily="34" charset="-120"/>
              </a:rPr>
              <a:t>6,000 tonnes</a:t>
            </a:r>
            <a:endParaRPr lang="en-US" sz="10000" dirty="0"/>
          </a:p>
        </p:txBody>
      </p:sp>
      <p:sp>
        <p:nvSpPr>
          <p:cNvPr id="4" name="Text 2"/>
          <p:cNvSpPr/>
          <p:nvPr/>
        </p:nvSpPr>
        <p:spPr>
          <a:xfrm>
            <a:off x="812800" y="3959870"/>
            <a:ext cx="915670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C6BC"/>
                </a:solidFill>
                <a:latin typeface="Inter" pitchFamily="34" charset="0"/>
                <a:ea typeface="Inter" pitchFamily="34" charset="-122"/>
                <a:cs typeface="Inter" pitchFamily="34" charset="-120"/>
              </a:rPr>
              <a:t>of food that could still be eaten is thrown away. That’s about 240 lorry loads, every day.</a:t>
            </a:r>
            <a:endParaRPr lang="en-US" sz="22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6BC"/>
                </a:solidFill>
                <a:latin typeface="Inter" pitchFamily="34" charset="0"/>
                <a:ea typeface="Inter" pitchFamily="34" charset="-122"/>
                <a:cs typeface="Inter" pitchFamily="34" charset="-120"/>
              </a:rPr>
              <a:t>Source: SWCorp data for 2025, reported by New Straits Times, 15 June 2026 (up from about 5,000 tonnes a day in 2024).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4200"/>
                </a:solidFill>
                <a:latin typeface="Inter" pitchFamily="34" charset="0"/>
                <a:ea typeface="Inter" pitchFamily="34" charset="-122"/>
                <a:cs typeface="Inter" pitchFamily="34" charset="-120"/>
              </a:rPr>
              <a:t>WHERE BREAD WASTE STARTS</a:t>
            </a:r>
            <a:endParaRPr lang="en-US" sz="1200" dirty="0"/>
          </a:p>
        </p:txBody>
      </p:sp>
      <p:sp>
        <p:nvSpPr>
          <p:cNvPr id="3" name="Text 1"/>
          <p:cNvSpPr/>
          <p:nvPr>
            <p:ph type="title"/>
          </p:nvPr>
        </p:nvSpPr>
        <p:spPr>
          <a:xfrm>
            <a:off x="812800" y="1381720"/>
            <a:ext cx="9810750" cy="1076920"/>
          </a:xfrm>
          <a:prstGeom prst="rect">
            <a:avLst/>
          </a:prstGeom>
          <a:noFill/>
          <a:ln/>
        </p:spPr>
        <p:txBody>
          <a:bodyPr wrap="square" lIns="0" tIns="0" rIns="0" bIns="0" rtlCol="0" anchor="t">
            <a:normAutofit/>
          </a:bodyPr>
          <a:lstStyle/>
          <a:p>
            <a:pPr algn="l" indent="0" marL="0">
              <a:lnSpc>
                <a:spcPts val="4140"/>
              </a:lnSpc>
              <a:buNone/>
            </a:pPr>
            <a:r>
              <a:rPr lang="en-US" sz="3600" b="0" i="0" spc="-75" kern="0" dirty="0">
                <a:solidFill>
                  <a:srgbClr val="26251E"/>
                </a:solidFill>
                <a:latin typeface="Inter" pitchFamily="34" charset="0"/>
                <a:ea typeface="Inter" pitchFamily="34" charset="-122"/>
                <a:cs typeface="Inter" pitchFamily="34" charset="-120"/>
              </a:rPr>
              <a:t>A lot of it is baked, never sold, and thrown out by the shop</a:t>
            </a:r>
            <a:endParaRPr lang="en-US" sz="3600" dirty="0"/>
          </a:p>
        </p:txBody>
      </p:sp>
      <p:sp>
        <p:nvSpPr>
          <p:cNvPr id="4" name="Shape 2"/>
          <p:cNvSpPr/>
          <p:nvPr/>
        </p:nvSpPr>
        <p:spPr>
          <a:xfrm>
            <a:off x="815975" y="2792016"/>
            <a:ext cx="5175250" cy="2363391"/>
          </a:xfrm>
          <a:prstGeom prst="roundRect">
            <a:avLst>
              <a:gd name="adj" fmla="val 3090"/>
            </a:avLst>
          </a:prstGeom>
          <a:solidFill>
            <a:srgbClr val="FFFFFF"/>
          </a:solidFill>
          <a:ln w="6350">
            <a:solidFill>
              <a:srgbClr val="E6E5E0"/>
            </a:solidFill>
            <a:prstDash val="solid"/>
          </a:ln>
        </p:spPr>
      </p:sp>
      <p:sp>
        <p:nvSpPr>
          <p:cNvPr id="5" name="Text 3"/>
          <p:cNvSpPr/>
          <p:nvPr/>
        </p:nvSpPr>
        <p:spPr>
          <a:xfrm>
            <a:off x="1123950" y="3099991"/>
            <a:ext cx="4696079" cy="787400"/>
          </a:xfrm>
          <a:prstGeom prst="rect">
            <a:avLst/>
          </a:prstGeom>
          <a:noFill/>
          <a:ln/>
        </p:spPr>
        <p:txBody>
          <a:bodyPr wrap="square" lIns="0" tIns="0" rIns="0" bIns="0" rtlCol="0" anchor="t">
            <a:normAutofit/>
          </a:bodyPr>
          <a:lstStyle/>
          <a:p>
            <a:pPr algn="l" indent="0" marL="0">
              <a:lnSpc>
                <a:spcPts val="6000"/>
              </a:lnSpc>
              <a:buNone/>
            </a:pPr>
            <a:r>
              <a:rPr lang="en-US" sz="6000" spc="-150" kern="0" dirty="0">
                <a:solidFill>
                  <a:srgbClr val="D04200"/>
                </a:solidFill>
                <a:latin typeface="Inter" pitchFamily="34" charset="0"/>
                <a:ea typeface="Inter" pitchFamily="34" charset="-122"/>
                <a:cs typeface="Inter" pitchFamily="34" charset="-120"/>
              </a:rPr>
              <a:t>Up to 35%</a:t>
            </a:r>
            <a:endParaRPr lang="en-US" sz="6000" dirty="0"/>
          </a:p>
        </p:txBody>
      </p:sp>
      <p:sp>
        <p:nvSpPr>
          <p:cNvPr id="6" name="Text 4"/>
          <p:cNvSpPr/>
          <p:nvPr/>
        </p:nvSpPr>
        <p:spPr>
          <a:xfrm>
            <a:off x="1123950" y="3963591"/>
            <a:ext cx="469607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251E"/>
                </a:solidFill>
                <a:latin typeface="Inter" pitchFamily="34" charset="0"/>
                <a:ea typeface="Inter" pitchFamily="34" charset="-122"/>
                <a:cs typeface="Inter" pitchFamily="34" charset="-120"/>
              </a:rPr>
              <a:t>of bread waste happens in bakeries and shops, before it reaches anyone’s home.</a:t>
            </a:r>
            <a:endParaRPr lang="en-US" sz="1600" dirty="0"/>
          </a:p>
        </p:txBody>
      </p:sp>
      <p:sp>
        <p:nvSpPr>
          <p:cNvPr id="7" name="Text 5"/>
          <p:cNvSpPr/>
          <p:nvPr/>
        </p:nvSpPr>
        <p:spPr>
          <a:xfrm>
            <a:off x="1123950" y="4634111"/>
            <a:ext cx="46960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852"/>
                </a:solidFill>
                <a:latin typeface="Inter" pitchFamily="34" charset="0"/>
                <a:ea typeface="Inter" pitchFamily="34" charset="-122"/>
                <a:cs typeface="Inter" pitchFamily="34" charset="-120"/>
              </a:rPr>
              <a:t>Nofima research, Norway (FoodNavigator, Jan 2024)</a:t>
            </a:r>
            <a:endParaRPr lang="en-US" sz="1200" dirty="0"/>
          </a:p>
        </p:txBody>
      </p:sp>
      <p:sp>
        <p:nvSpPr>
          <p:cNvPr id="8" name="Shape 6"/>
          <p:cNvSpPr/>
          <p:nvPr/>
        </p:nvSpPr>
        <p:spPr>
          <a:xfrm>
            <a:off x="6200775" y="2792016"/>
            <a:ext cx="5175250" cy="2363391"/>
          </a:xfrm>
          <a:prstGeom prst="roundRect">
            <a:avLst>
              <a:gd name="adj" fmla="val 3090"/>
            </a:avLst>
          </a:prstGeom>
          <a:solidFill>
            <a:srgbClr val="FFFFFF"/>
          </a:solidFill>
          <a:ln w="6350">
            <a:solidFill>
              <a:srgbClr val="E6E5E0"/>
            </a:solidFill>
            <a:prstDash val="solid"/>
          </a:ln>
        </p:spPr>
      </p:sp>
      <p:sp>
        <p:nvSpPr>
          <p:cNvPr id="9" name="Text 7"/>
          <p:cNvSpPr/>
          <p:nvPr/>
        </p:nvSpPr>
        <p:spPr>
          <a:xfrm>
            <a:off x="6508750" y="3099991"/>
            <a:ext cx="4696079" cy="787400"/>
          </a:xfrm>
          <a:prstGeom prst="rect">
            <a:avLst/>
          </a:prstGeom>
          <a:noFill/>
          <a:ln/>
        </p:spPr>
        <p:txBody>
          <a:bodyPr wrap="square" lIns="0" tIns="0" rIns="0" bIns="0" rtlCol="0" anchor="t">
            <a:normAutofit/>
          </a:bodyPr>
          <a:lstStyle/>
          <a:p>
            <a:pPr algn="l" indent="0" marL="0">
              <a:lnSpc>
                <a:spcPts val="6000"/>
              </a:lnSpc>
              <a:buNone/>
            </a:pPr>
            <a:r>
              <a:rPr lang="en-US" sz="6000" spc="-150" kern="0" dirty="0">
                <a:solidFill>
                  <a:srgbClr val="26251E"/>
                </a:solidFill>
                <a:latin typeface="Inter" pitchFamily="34" charset="0"/>
                <a:ea typeface="Inter" pitchFamily="34" charset="-122"/>
                <a:cs typeface="Inter" pitchFamily="34" charset="-120"/>
              </a:rPr>
              <a:t>Guessing</a:t>
            </a:r>
            <a:endParaRPr lang="en-US" sz="6000" dirty="0"/>
          </a:p>
        </p:txBody>
      </p:sp>
      <p:sp>
        <p:nvSpPr>
          <p:cNvPr id="10" name="Text 8"/>
          <p:cNvSpPr/>
          <p:nvPr/>
        </p:nvSpPr>
        <p:spPr>
          <a:xfrm>
            <a:off x="6508750" y="3963591"/>
            <a:ext cx="469607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6251E"/>
                </a:solidFill>
                <a:latin typeface="Inter" pitchFamily="34" charset="0"/>
                <a:ea typeface="Inter" pitchFamily="34" charset="-122"/>
                <a:cs typeface="Inter" pitchFamily="34" charset="-120"/>
              </a:rPr>
              <a:t>Bakeries name hard-to-forecast demand and wrong order quantities as main causes.</a:t>
            </a:r>
            <a:endParaRPr lang="en-US" sz="1600" dirty="0"/>
          </a:p>
        </p:txBody>
      </p:sp>
      <p:sp>
        <p:nvSpPr>
          <p:cNvPr id="11" name="Text 9"/>
          <p:cNvSpPr/>
          <p:nvPr/>
        </p:nvSpPr>
        <p:spPr>
          <a:xfrm>
            <a:off x="6508750" y="4634111"/>
            <a:ext cx="46960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852"/>
                </a:solidFill>
                <a:latin typeface="Inter" pitchFamily="34" charset="0"/>
                <a:ea typeface="Inter" pitchFamily="34" charset="-122"/>
                <a:cs typeface="Inter" pitchFamily="34" charset="-120"/>
              </a:rPr>
              <a:t>Study of 19 bakeries, SLU Sweden (2021)</a:t>
            </a:r>
            <a:endParaRPr lang="en-US" sz="12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852"/>
                </a:solidFill>
                <a:latin typeface="Inter" pitchFamily="34" charset="0"/>
                <a:ea typeface="Inter" pitchFamily="34" charset="-122"/>
                <a:cs typeface="Inter" pitchFamily="34" charset="-120"/>
              </a:rPr>
              <a:t>We couldn’t find any published figure for Malaysian bakeries. So we went to ask them ourselves.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EE8"/>
        </a:solidFill>
      </p:bgPr>
    </p:bg>
    <p:spTree>
      <p:nvGrpSpPr>
        <p:cNvPr id="1" name=""/>
        <p:cNvGrpSpPr/>
        <p:nvPr/>
      </p:nvGrpSpPr>
      <p:grpSpPr>
        <a:xfrm>
          <a:off x="0" y="0"/>
          <a:ext cx="0" cy="0"/>
          <a:chOff x="0" y="0"/>
          <a:chExt cx="0" cy="0"/>
        </a:xfrm>
      </p:grpSpPr>
      <p:pic>
        <p:nvPicPr>
          <p:cNvPr id="2" name="Image 0" descr="Our teammate with a smiling baker giving a thumbs up at La Boheme">    </p:cNvPr>
          <p:cNvPicPr>
            <a:picLocks noChangeAspect="1"/>
          </p:cNvPicPr>
          <p:nvPr/>
        </p:nvPicPr>
        <p:blipFill>
          <a:blip r:embed="rId1"/>
          <a:srcRect l="0" r="0" t="52" b="52"/>
          <a:stretch/>
        </p:blipFill>
        <p:spPr>
          <a:xfrm>
            <a:off x="812800" y="1176040"/>
            <a:ext cx="5588000" cy="4191000"/>
          </a:xfrm>
          <a:prstGeom prst="roundRect">
            <a:avLst>
              <a:gd name="adj" fmla="val 1818"/>
            </a:avLst>
          </a:prstGeom>
        </p:spPr>
      </p:pic>
      <p:sp>
        <p:nvSpPr>
          <p:cNvPr id="3" name="Text 0"/>
          <p:cNvSpPr/>
          <p:nvPr/>
        </p:nvSpPr>
        <p:spPr>
          <a:xfrm>
            <a:off x="812800" y="5468640"/>
            <a:ext cx="5755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852"/>
                </a:solidFill>
                <a:latin typeface="Inter" pitchFamily="34" charset="0"/>
                <a:ea typeface="Inter" pitchFamily="34" charset="-122"/>
                <a:cs typeface="Inter" pitchFamily="34" charset="-120"/>
              </a:rPr>
              <a:t>At La Boheme, with one of the bakers we spoke to</a:t>
            </a:r>
            <a:endParaRPr lang="en-US" sz="1200" dirty="0"/>
          </a:p>
        </p:txBody>
      </p:sp>
      <p:sp>
        <p:nvSpPr>
          <p:cNvPr id="4" name="Text 1"/>
          <p:cNvSpPr/>
          <p:nvPr/>
        </p:nvSpPr>
        <p:spPr>
          <a:xfrm>
            <a:off x="6908800" y="1837730"/>
            <a:ext cx="46045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4200"/>
                </a:solidFill>
                <a:latin typeface="Inter" pitchFamily="34" charset="0"/>
                <a:ea typeface="Inter" pitchFamily="34" charset="-122"/>
                <a:cs typeface="Inter" pitchFamily="34" charset="-120"/>
              </a:rPr>
              <a:t>FIELD RESEARCH</a:t>
            </a:r>
            <a:endParaRPr lang="en-US" sz="1200" dirty="0"/>
          </a:p>
        </p:txBody>
      </p:sp>
      <p:sp>
        <p:nvSpPr>
          <p:cNvPr id="5" name="Text 2"/>
          <p:cNvSpPr/>
          <p:nvPr>
            <p:ph type="title"/>
          </p:nvPr>
        </p:nvSpPr>
        <p:spPr>
          <a:xfrm>
            <a:off x="6908800" y="2305050"/>
            <a:ext cx="4604512" cy="1602680"/>
          </a:xfrm>
          <a:prstGeom prst="rect">
            <a:avLst/>
          </a:prstGeom>
          <a:noFill/>
          <a:ln/>
        </p:spPr>
        <p:txBody>
          <a:bodyPr wrap="square" lIns="0" tIns="0" rIns="0" bIns="0" rtlCol="0" anchor="t">
            <a:normAutofit/>
          </a:bodyPr>
          <a:lstStyle/>
          <a:p>
            <a:pPr algn="l" indent="0" marL="0">
              <a:lnSpc>
                <a:spcPts val="4140"/>
              </a:lnSpc>
              <a:buNone/>
            </a:pPr>
            <a:r>
              <a:rPr lang="en-US" sz="3600" b="0" i="0" spc="-75" kern="0" dirty="0">
                <a:solidFill>
                  <a:srgbClr val="26251E"/>
                </a:solidFill>
                <a:latin typeface="Inter" pitchFamily="34" charset="0"/>
                <a:ea typeface="Inter" pitchFamily="34" charset="-122"/>
                <a:cs typeface="Inter" pitchFamily="34" charset="-120"/>
              </a:rPr>
              <a:t>So we went and asked the people who bake</a:t>
            </a:r>
            <a:endParaRPr lang="en-US" sz="3600" dirty="0"/>
          </a:p>
        </p:txBody>
      </p:sp>
      <p:sp>
        <p:nvSpPr>
          <p:cNvPr id="6" name="Text 3"/>
          <p:cNvSpPr/>
          <p:nvPr/>
        </p:nvSpPr>
        <p:spPr>
          <a:xfrm>
            <a:off x="6908800" y="4136330"/>
            <a:ext cx="4604512" cy="90929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5A5852"/>
                </a:solidFill>
                <a:latin typeface="Inter" pitchFamily="34" charset="0"/>
                <a:ea typeface="Inter" pitchFamily="34" charset="-122"/>
                <a:cs typeface="Inter" pitchFamily="34" charset="-120"/>
              </a:rPr>
              <a:t>We visited three bakeries and talked to the staff: how they decide how much to bake, and what happens to what’s left.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4200"/>
                </a:solidFill>
                <a:latin typeface="Inter" pitchFamily="34" charset="0"/>
                <a:ea typeface="Inter" pitchFamily="34" charset="-122"/>
                <a:cs typeface="Inter" pitchFamily="34" charset="-120"/>
              </a:rPr>
              <a:t>WE ASKED THE PEOPLE WHO BAKE</a:t>
            </a:r>
            <a:endParaRPr lang="en-US" sz="1200" dirty="0"/>
          </a:p>
        </p:txBody>
      </p:sp>
      <p:sp>
        <p:nvSpPr>
          <p:cNvPr id="3" name="Text 1"/>
          <p:cNvSpPr/>
          <p:nvPr>
            <p:ph type="title"/>
          </p:nvPr>
        </p:nvSpPr>
        <p:spPr>
          <a:xfrm>
            <a:off x="812800" y="13309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0" i="0" spc="-75" kern="0" dirty="0">
                <a:solidFill>
                  <a:srgbClr val="26251E"/>
                </a:solidFill>
                <a:latin typeface="Inter" pitchFamily="34" charset="0"/>
                <a:ea typeface="Inter" pitchFamily="34" charset="-122"/>
                <a:cs typeface="Inter" pitchFamily="34" charset="-120"/>
              </a:rPr>
              <a:t>We visited three bakeries</a:t>
            </a:r>
            <a:endParaRPr lang="en-US" sz="3600" dirty="0"/>
          </a:p>
        </p:txBody>
      </p:sp>
      <p:sp>
        <p:nvSpPr>
          <p:cNvPr id="4" name="Shape 2"/>
          <p:cNvSpPr/>
          <p:nvPr/>
        </p:nvSpPr>
        <p:spPr>
          <a:xfrm>
            <a:off x="815975" y="2164655"/>
            <a:ext cx="3380284" cy="3046661"/>
          </a:xfrm>
          <a:prstGeom prst="roundRect">
            <a:avLst>
              <a:gd name="adj" fmla="val 2397"/>
            </a:avLst>
          </a:prstGeom>
          <a:solidFill>
            <a:srgbClr val="FFFFFF"/>
          </a:solidFill>
          <a:ln w="6350">
            <a:solidFill>
              <a:srgbClr val="E6E5E0"/>
            </a:solidFill>
            <a:prstDash val="solid"/>
          </a:ln>
        </p:spPr>
      </p:sp>
      <p:pic>
        <p:nvPicPr>
          <p:cNvPr id="5" name="Image 0" descr="Bakefield bakery shopfront">    </p:cNvPr>
          <p:cNvPicPr>
            <a:picLocks noChangeAspect="1"/>
          </p:cNvPicPr>
          <p:nvPr/>
        </p:nvPicPr>
        <p:blipFill>
          <a:blip r:embed="rId1"/>
          <a:srcRect l="0" r="0" t="17480" b="17480"/>
          <a:stretch/>
        </p:blipFill>
        <p:spPr>
          <a:xfrm>
            <a:off x="819150" y="2167830"/>
            <a:ext cx="3384550" cy="1651000"/>
          </a:xfrm>
          <a:custGeom>
            <a:avLst/>
            <a:gdLst/>
            <a:ahLst/>
            <a:cxnLst/>
            <a:rect l="l" t="t" r="r" b="b"/>
            <a:pathLst>
              <a:path w="3384550" h="1651000">
                <a:moveTo>
                  <a:pt x="0" y="69850"/>
                </a:moveTo>
                <a:arcTo wR="69850" hR="69850" stAng="10800000" swAng="5400000"/>
                <a:lnTo>
                  <a:pt x="3384550" y="0"/>
                </a:lnTo>
                <a:lnTo>
                  <a:pt x="3384550" y="1651000"/>
                </a:lnTo>
                <a:lnTo>
                  <a:pt x="0" y="1651000"/>
                </a:lnTo>
                <a:close/>
              </a:path>
            </a:pathLst>
          </a:custGeom>
        </p:spPr>
      </p:pic>
      <p:sp>
        <p:nvSpPr>
          <p:cNvPr id="6" name="Text 3"/>
          <p:cNvSpPr/>
          <p:nvPr/>
        </p:nvSpPr>
        <p:spPr>
          <a:xfrm>
            <a:off x="1022350" y="4022030"/>
            <a:ext cx="30565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6251E"/>
                </a:solidFill>
                <a:latin typeface="Inter" pitchFamily="34" charset="0"/>
                <a:ea typeface="Inter" pitchFamily="34" charset="-122"/>
                <a:cs typeface="Inter" pitchFamily="34" charset="-120"/>
              </a:rPr>
              <a:t>Bakefield (independent)</a:t>
            </a:r>
            <a:endParaRPr lang="en-US" sz="1600" dirty="0"/>
          </a:p>
        </p:txBody>
      </p:sp>
      <p:sp>
        <p:nvSpPr>
          <p:cNvPr id="7" name="Text 4"/>
          <p:cNvSpPr/>
          <p:nvPr/>
        </p:nvSpPr>
        <p:spPr>
          <a:xfrm>
            <a:off x="1022350" y="4342061"/>
            <a:ext cx="305656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A5852"/>
                </a:solidFill>
                <a:latin typeface="Inter" pitchFamily="34" charset="0"/>
                <a:ea typeface="Inter" pitchFamily="34" charset="-122"/>
                <a:cs typeface="Inter" pitchFamily="34" charset="-120"/>
              </a:rPr>
              <a:t>Don’t know how to work out quantities, so they estimate. Leftovers get a small discount at closing.</a:t>
            </a:r>
            <a:endParaRPr lang="en-US" sz="1200" dirty="0"/>
          </a:p>
        </p:txBody>
      </p:sp>
      <p:sp>
        <p:nvSpPr>
          <p:cNvPr id="8" name="Shape 5"/>
          <p:cNvSpPr/>
          <p:nvPr/>
        </p:nvSpPr>
        <p:spPr>
          <a:xfrm>
            <a:off x="4405809" y="2164655"/>
            <a:ext cx="3380333" cy="3046661"/>
          </a:xfrm>
          <a:prstGeom prst="roundRect">
            <a:avLst>
              <a:gd name="adj" fmla="val 2397"/>
            </a:avLst>
          </a:prstGeom>
          <a:solidFill>
            <a:srgbClr val="FFFFFF"/>
          </a:solidFill>
          <a:ln w="6350">
            <a:solidFill>
              <a:srgbClr val="E6E5E0"/>
            </a:solidFill>
            <a:prstDash val="solid"/>
          </a:ln>
        </p:spPr>
      </p:sp>
      <p:pic>
        <p:nvPicPr>
          <p:cNvPr id="9" name="Image 1" descr="La Boheme bakery counter">    </p:cNvPr>
          <p:cNvPicPr>
            <a:picLocks noChangeAspect="1"/>
          </p:cNvPicPr>
          <p:nvPr/>
        </p:nvPicPr>
        <p:blipFill>
          <a:blip r:embed="rId2"/>
          <a:srcRect l="0" r="0" t="17480" b="17480"/>
          <a:stretch/>
        </p:blipFill>
        <p:spPr>
          <a:xfrm>
            <a:off x="4408984" y="2167830"/>
            <a:ext cx="3384550" cy="1651000"/>
          </a:xfrm>
          <a:custGeom>
            <a:avLst/>
            <a:gdLst/>
            <a:ahLst/>
            <a:cxnLst/>
            <a:rect l="l" t="t" r="r" b="b"/>
            <a:pathLst>
              <a:path w="3384550" h="1651000">
                <a:moveTo>
                  <a:pt x="0" y="69850"/>
                </a:moveTo>
                <a:arcTo wR="69850" hR="69850" stAng="10800000" swAng="5400000"/>
                <a:lnTo>
                  <a:pt x="3384550" y="0"/>
                </a:lnTo>
                <a:lnTo>
                  <a:pt x="3384550" y="1651000"/>
                </a:lnTo>
                <a:lnTo>
                  <a:pt x="0" y="1651000"/>
                </a:lnTo>
                <a:close/>
              </a:path>
            </a:pathLst>
          </a:custGeom>
        </p:spPr>
      </p:pic>
      <p:sp>
        <p:nvSpPr>
          <p:cNvPr id="10" name="Text 6"/>
          <p:cNvSpPr/>
          <p:nvPr/>
        </p:nvSpPr>
        <p:spPr>
          <a:xfrm>
            <a:off x="4612184" y="4022030"/>
            <a:ext cx="30566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6251E"/>
                </a:solidFill>
                <a:latin typeface="Inter" pitchFamily="34" charset="0"/>
                <a:ea typeface="Inter" pitchFamily="34" charset="-122"/>
                <a:cs typeface="Inter" pitchFamily="34" charset="-120"/>
              </a:rPr>
              <a:t>La Boheme (chain)</a:t>
            </a:r>
            <a:endParaRPr lang="en-US" sz="1600" dirty="0"/>
          </a:p>
        </p:txBody>
      </p:sp>
      <p:sp>
        <p:nvSpPr>
          <p:cNvPr id="11" name="Text 7"/>
          <p:cNvSpPr/>
          <p:nvPr/>
        </p:nvSpPr>
        <p:spPr>
          <a:xfrm>
            <a:off x="4612184" y="4342061"/>
            <a:ext cx="3056611"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A5852"/>
                </a:solidFill>
                <a:latin typeface="Inter" pitchFamily="34" charset="0"/>
                <a:ea typeface="Inter" pitchFamily="34" charset="-122"/>
                <a:cs typeface="Inter" pitchFamily="34" charset="-120"/>
              </a:rPr>
              <a:t>Follow company policy using past quantities and sales. Still discount unsold bread every day.</a:t>
            </a:r>
            <a:endParaRPr lang="en-US" sz="1200" dirty="0"/>
          </a:p>
        </p:txBody>
      </p:sp>
      <p:sp>
        <p:nvSpPr>
          <p:cNvPr id="12" name="Shape 8"/>
          <p:cNvSpPr/>
          <p:nvPr/>
        </p:nvSpPr>
        <p:spPr>
          <a:xfrm>
            <a:off x="7995692" y="2164655"/>
            <a:ext cx="3380333" cy="3046661"/>
          </a:xfrm>
          <a:prstGeom prst="roundRect">
            <a:avLst>
              <a:gd name="adj" fmla="val 2397"/>
            </a:avLst>
          </a:prstGeom>
          <a:solidFill>
            <a:srgbClr val="FFFFFF"/>
          </a:solidFill>
          <a:ln w="6350">
            <a:solidFill>
              <a:srgbClr val="E6E5E0"/>
            </a:solidFill>
            <a:prstDash val="solid"/>
          </a:ln>
        </p:spPr>
      </p:sp>
      <p:pic>
        <p:nvPicPr>
          <p:cNvPr id="13" name="Image 2" descr="Hokkaido bakery shopfront">    </p:cNvPr>
          <p:cNvPicPr>
            <a:picLocks noChangeAspect="1"/>
          </p:cNvPicPr>
          <p:nvPr/>
        </p:nvPicPr>
        <p:blipFill>
          <a:blip r:embed="rId3"/>
          <a:srcRect l="0" r="0" t="17480" b="17480"/>
          <a:stretch/>
        </p:blipFill>
        <p:spPr>
          <a:xfrm>
            <a:off x="7998867" y="2167830"/>
            <a:ext cx="3384550" cy="1651000"/>
          </a:xfrm>
          <a:custGeom>
            <a:avLst/>
            <a:gdLst/>
            <a:ahLst/>
            <a:cxnLst/>
            <a:rect l="l" t="t" r="r" b="b"/>
            <a:pathLst>
              <a:path w="3384550" h="1651000">
                <a:moveTo>
                  <a:pt x="0" y="69850"/>
                </a:moveTo>
                <a:arcTo wR="69850" hR="69850" stAng="10800000" swAng="5400000"/>
                <a:lnTo>
                  <a:pt x="3384550" y="0"/>
                </a:lnTo>
                <a:lnTo>
                  <a:pt x="3384550" y="1651000"/>
                </a:lnTo>
                <a:lnTo>
                  <a:pt x="0" y="1651000"/>
                </a:lnTo>
                <a:close/>
              </a:path>
            </a:pathLst>
          </a:custGeom>
        </p:spPr>
      </p:pic>
      <p:sp>
        <p:nvSpPr>
          <p:cNvPr id="14" name="Text 9"/>
          <p:cNvSpPr/>
          <p:nvPr/>
        </p:nvSpPr>
        <p:spPr>
          <a:xfrm>
            <a:off x="8202067" y="4022030"/>
            <a:ext cx="30566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6251E"/>
                </a:solidFill>
                <a:latin typeface="Inter" pitchFamily="34" charset="0"/>
                <a:ea typeface="Inter" pitchFamily="34" charset="-122"/>
                <a:cs typeface="Inter" pitchFamily="34" charset="-120"/>
              </a:rPr>
              <a:t>Hokkaido (chain)</a:t>
            </a:r>
            <a:endParaRPr lang="en-US" sz="1600" dirty="0"/>
          </a:p>
        </p:txBody>
      </p:sp>
      <p:sp>
        <p:nvSpPr>
          <p:cNvPr id="15" name="Text 10"/>
          <p:cNvSpPr/>
          <p:nvPr/>
        </p:nvSpPr>
        <p:spPr>
          <a:xfrm>
            <a:off x="8202067" y="4342061"/>
            <a:ext cx="3056611"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A5852"/>
                </a:solidFill>
                <a:latin typeface="Inter" pitchFamily="34" charset="0"/>
                <a:ea typeface="Inter" pitchFamily="34" charset="-122"/>
                <a:cs typeface="Inter" pitchFamily="34" charset="-120"/>
              </a:rPr>
              <a:t>Bake a fresh batch when one sells out. Unsold stock goes back to the factory.</a:t>
            </a:r>
            <a:endParaRPr lang="en-US" sz="12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852"/>
                </a:solidFill>
                <a:latin typeface="Inter" pitchFamily="34" charset="0"/>
                <a:ea typeface="Inter" pitchFamily="34" charset="-122"/>
                <a:cs typeface="Inter" pitchFamily="34" charset="-120"/>
              </a:rPr>
              <a:t>Chains have policies and factories to fall back on. Independent bakeries have thin margins and only a guess.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4200"/>
                </a:solidFill>
                <a:latin typeface="Inter" pitchFamily="34" charset="0"/>
                <a:ea typeface="Inter" pitchFamily="34" charset="-122"/>
                <a:cs typeface="Inter" pitchFamily="34" charset="-120"/>
              </a:rPr>
              <a:t>WHAT WE LEARNED</a:t>
            </a:r>
            <a:endParaRPr lang="en-US" sz="1200" dirty="0"/>
          </a:p>
        </p:txBody>
      </p:sp>
      <p:sp>
        <p:nvSpPr>
          <p:cNvPr id="3" name="Text 1"/>
          <p:cNvSpPr/>
          <p:nvPr>
            <p:ph type="title"/>
          </p:nvPr>
        </p:nvSpPr>
        <p:spPr>
          <a:xfrm>
            <a:off x="812800" y="1381720"/>
            <a:ext cx="9810750" cy="1076920"/>
          </a:xfrm>
          <a:prstGeom prst="rect">
            <a:avLst/>
          </a:prstGeom>
          <a:noFill/>
          <a:ln/>
        </p:spPr>
        <p:txBody>
          <a:bodyPr wrap="square" lIns="0" tIns="0" rIns="0" bIns="0" rtlCol="0" anchor="t">
            <a:normAutofit/>
          </a:bodyPr>
          <a:lstStyle/>
          <a:p>
            <a:pPr algn="l" indent="0" marL="0">
              <a:lnSpc>
                <a:spcPts val="4140"/>
              </a:lnSpc>
              <a:buNone/>
            </a:pPr>
            <a:r>
              <a:rPr lang="en-US" sz="3600" b="0" i="0" spc="-75" kern="0" dirty="0">
                <a:solidFill>
                  <a:srgbClr val="26251E"/>
                </a:solidFill>
                <a:latin typeface="Inter" pitchFamily="34" charset="0"/>
                <a:ea typeface="Inter" pitchFamily="34" charset="-122"/>
                <a:cs typeface="Inter" pitchFamily="34" charset="-120"/>
              </a:rPr>
              <a:t>Every evening, a small bakery guesses how much to bake tomorrow.</a:t>
            </a:r>
            <a:endParaRPr lang="en-US" sz="3600" dirty="0"/>
          </a:p>
        </p:txBody>
      </p:sp>
      <p:sp>
        <p:nvSpPr>
          <p:cNvPr id="4" name="Shape 2"/>
          <p:cNvSpPr/>
          <p:nvPr/>
        </p:nvSpPr>
        <p:spPr>
          <a:xfrm>
            <a:off x="815975" y="2792016"/>
            <a:ext cx="3380284" cy="1804591"/>
          </a:xfrm>
          <a:prstGeom prst="roundRect">
            <a:avLst>
              <a:gd name="adj" fmla="val 4047"/>
            </a:avLst>
          </a:prstGeom>
          <a:solidFill>
            <a:srgbClr val="FFFFFF"/>
          </a:solidFill>
          <a:ln w="6350">
            <a:solidFill>
              <a:srgbClr val="E6E5E0"/>
            </a:solidFill>
            <a:prstDash val="solid"/>
          </a:ln>
        </p:spPr>
      </p:sp>
      <p:sp>
        <p:nvSpPr>
          <p:cNvPr id="5" name="Text 3"/>
          <p:cNvSpPr/>
          <p:nvPr/>
        </p:nvSpPr>
        <p:spPr>
          <a:xfrm>
            <a:off x="1073150" y="3049191"/>
            <a:ext cx="2951912"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26251E"/>
                </a:solidFill>
                <a:latin typeface="Inter" pitchFamily="34" charset="0"/>
                <a:ea typeface="Inter" pitchFamily="34" charset="-122"/>
                <a:cs typeface="Inter" pitchFamily="34" charset="-120"/>
              </a:rPr>
              <a:t>Bake too much</a:t>
            </a:r>
            <a:endParaRPr lang="en-US" sz="2200" dirty="0"/>
          </a:p>
        </p:txBody>
      </p:sp>
      <p:sp>
        <p:nvSpPr>
          <p:cNvPr id="6" name="Text 4"/>
          <p:cNvSpPr/>
          <p:nvPr/>
        </p:nvSpPr>
        <p:spPr>
          <a:xfrm>
            <a:off x="1073150" y="3486051"/>
            <a:ext cx="29519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A5852"/>
                </a:solidFill>
                <a:latin typeface="Inter" pitchFamily="34" charset="0"/>
                <a:ea typeface="Inter" pitchFamily="34" charset="-122"/>
                <a:cs typeface="Inter" pitchFamily="34" charset="-120"/>
              </a:rPr>
              <a:t>Unsold bread is discounted at closing or thrown away.</a:t>
            </a:r>
            <a:endParaRPr lang="en-US" sz="1600" dirty="0"/>
          </a:p>
        </p:txBody>
      </p:sp>
      <p:sp>
        <p:nvSpPr>
          <p:cNvPr id="7" name="Shape 5"/>
          <p:cNvSpPr/>
          <p:nvPr/>
        </p:nvSpPr>
        <p:spPr>
          <a:xfrm>
            <a:off x="4405809" y="2792016"/>
            <a:ext cx="3380333" cy="1804591"/>
          </a:xfrm>
          <a:prstGeom prst="roundRect">
            <a:avLst>
              <a:gd name="adj" fmla="val 4047"/>
            </a:avLst>
          </a:prstGeom>
          <a:solidFill>
            <a:srgbClr val="FFFFFF"/>
          </a:solidFill>
          <a:ln w="6350">
            <a:solidFill>
              <a:srgbClr val="E6E5E0"/>
            </a:solidFill>
            <a:prstDash val="solid"/>
          </a:ln>
        </p:spPr>
      </p:sp>
      <p:sp>
        <p:nvSpPr>
          <p:cNvPr id="8" name="Text 6"/>
          <p:cNvSpPr/>
          <p:nvPr/>
        </p:nvSpPr>
        <p:spPr>
          <a:xfrm>
            <a:off x="4662984" y="3049191"/>
            <a:ext cx="2951963"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26251E"/>
                </a:solidFill>
                <a:latin typeface="Inter" pitchFamily="34" charset="0"/>
                <a:ea typeface="Inter" pitchFamily="34" charset="-122"/>
                <a:cs typeface="Inter" pitchFamily="34" charset="-120"/>
              </a:rPr>
              <a:t>Bake too little</a:t>
            </a:r>
            <a:endParaRPr lang="en-US" sz="2200" dirty="0"/>
          </a:p>
        </p:txBody>
      </p:sp>
      <p:sp>
        <p:nvSpPr>
          <p:cNvPr id="9" name="Text 7"/>
          <p:cNvSpPr/>
          <p:nvPr/>
        </p:nvSpPr>
        <p:spPr>
          <a:xfrm>
            <a:off x="4662984" y="3486051"/>
            <a:ext cx="2951963"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A5852"/>
                </a:solidFill>
                <a:latin typeface="Inter" pitchFamily="34" charset="0"/>
                <a:ea typeface="Inter" pitchFamily="34" charset="-122"/>
                <a:cs typeface="Inter" pitchFamily="34" charset="-120"/>
              </a:rPr>
              <a:t>Shelves empty by lunch, and customers leave without buying.</a:t>
            </a:r>
            <a:endParaRPr lang="en-US" sz="1600" dirty="0"/>
          </a:p>
        </p:txBody>
      </p:sp>
      <p:sp>
        <p:nvSpPr>
          <p:cNvPr id="10" name="Shape 8"/>
          <p:cNvSpPr/>
          <p:nvPr/>
        </p:nvSpPr>
        <p:spPr>
          <a:xfrm>
            <a:off x="7995692" y="2792016"/>
            <a:ext cx="3380333" cy="1804591"/>
          </a:xfrm>
          <a:prstGeom prst="roundRect">
            <a:avLst>
              <a:gd name="adj" fmla="val 4047"/>
            </a:avLst>
          </a:prstGeom>
          <a:solidFill>
            <a:srgbClr val="FFFFFF"/>
          </a:solidFill>
          <a:ln w="6350">
            <a:solidFill>
              <a:srgbClr val="E6E5E0"/>
            </a:solidFill>
            <a:prstDash val="solid"/>
          </a:ln>
        </p:spPr>
      </p:sp>
      <p:sp>
        <p:nvSpPr>
          <p:cNvPr id="11" name="Text 9"/>
          <p:cNvSpPr/>
          <p:nvPr/>
        </p:nvSpPr>
        <p:spPr>
          <a:xfrm>
            <a:off x="8252867" y="3049191"/>
            <a:ext cx="2951963"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26251E"/>
                </a:solidFill>
                <a:latin typeface="Inter" pitchFamily="34" charset="0"/>
                <a:ea typeface="Inter" pitchFamily="34" charset="-122"/>
                <a:cs typeface="Inter" pitchFamily="34" charset="-120"/>
              </a:rPr>
              <a:t>No tools to help</a:t>
            </a:r>
            <a:endParaRPr lang="en-US" sz="2200" dirty="0"/>
          </a:p>
        </p:txBody>
      </p:sp>
      <p:sp>
        <p:nvSpPr>
          <p:cNvPr id="12" name="Text 10"/>
          <p:cNvSpPr/>
          <p:nvPr/>
        </p:nvSpPr>
        <p:spPr>
          <a:xfrm>
            <a:off x="8252867" y="3486051"/>
            <a:ext cx="295196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A5852"/>
                </a:solidFill>
                <a:latin typeface="Inter" pitchFamily="34" charset="0"/>
                <a:ea typeface="Inter" pitchFamily="34" charset="-122"/>
                <a:cs typeface="Inter" pitchFamily="34" charset="-120"/>
              </a:rPr>
              <a:t>Owners use rule of thumb. No analyst, no forecasting.</a:t>
            </a:r>
            <a:endParaRPr lang="en-US" sz="16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852"/>
                </a:solidFill>
                <a:latin typeface="Inter" pitchFamily="34" charset="0"/>
                <a:ea typeface="Inter" pitchFamily="34" charset="-122"/>
                <a:cs typeface="Inter" pitchFamily="34" charset="-120"/>
              </a:rPr>
              <a:t>The waste isn’t careless staff. It’s poor planning, because nobody gives them a better way to decide.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6251E"/>
        </a:solidFill>
      </p:bgPr>
    </p:bg>
    <p:spTree>
      <p:nvGrpSpPr>
        <p:cNvPr id="1" name=""/>
        <p:cNvGrpSpPr/>
        <p:nvPr/>
      </p:nvGrpSpPr>
      <p:grpSpPr>
        <a:xfrm>
          <a:off x="0" y="0"/>
          <a:ext cx="0" cy="0"/>
          <a:chOff x="0" y="0"/>
          <a:chExt cx="0" cy="0"/>
        </a:xfrm>
      </p:grpSpPr>
      <p:sp>
        <p:nvSpPr>
          <p:cNvPr id="2" name="Text 0"/>
          <p:cNvSpPr/>
          <p:nvPr/>
        </p:nvSpPr>
        <p:spPr>
          <a:xfrm>
            <a:off x="812800" y="16510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7A46F"/>
                </a:solidFill>
                <a:latin typeface="Inter" pitchFamily="34" charset="0"/>
                <a:ea typeface="Inter" pitchFamily="34" charset="-122"/>
                <a:cs typeface="Inter" pitchFamily="34" charset="-120"/>
              </a:rPr>
              <a:t>THE KEY INSIGHT</a:t>
            </a:r>
            <a:endParaRPr lang="en-US" sz="1200" dirty="0"/>
          </a:p>
        </p:txBody>
      </p:sp>
      <p:sp>
        <p:nvSpPr>
          <p:cNvPr id="3" name="Text 1"/>
          <p:cNvSpPr/>
          <p:nvPr>
            <p:ph type="title"/>
          </p:nvPr>
        </p:nvSpPr>
        <p:spPr>
          <a:xfrm>
            <a:off x="812800" y="2270770"/>
            <a:ext cx="10464800" cy="1366441"/>
          </a:xfrm>
          <a:prstGeom prst="rect">
            <a:avLst/>
          </a:prstGeom>
          <a:noFill/>
          <a:ln/>
        </p:spPr>
        <p:txBody>
          <a:bodyPr wrap="square" lIns="0" tIns="0" rIns="0" bIns="0" rtlCol="0" anchor="t">
            <a:normAutofit/>
          </a:bodyPr>
          <a:lstStyle/>
          <a:p>
            <a:pPr algn="l" indent="0" marL="0">
              <a:lnSpc>
                <a:spcPts val="5280"/>
              </a:lnSpc>
              <a:buNone/>
            </a:pPr>
            <a:r>
              <a:rPr lang="en-US" sz="4800" b="0" i="0" spc="-125" kern="0" dirty="0">
                <a:solidFill>
                  <a:srgbClr val="F7F7F4"/>
                </a:solidFill>
                <a:latin typeface="Inter" pitchFamily="34" charset="0"/>
                <a:ea typeface="Inter" pitchFamily="34" charset="-122"/>
                <a:cs typeface="Inter" pitchFamily="34" charset="-120"/>
              </a:rPr>
              <a:t>The goal is the right amount of waste, not zero.</a:t>
            </a:r>
            <a:endParaRPr lang="en-US" sz="4800" dirty="0"/>
          </a:p>
        </p:txBody>
      </p:sp>
      <p:sp>
        <p:nvSpPr>
          <p:cNvPr id="4" name="Text 2"/>
          <p:cNvSpPr/>
          <p:nvPr/>
        </p:nvSpPr>
        <p:spPr>
          <a:xfrm>
            <a:off x="812800" y="4018211"/>
            <a:ext cx="4556480" cy="878830"/>
          </a:xfrm>
          <a:prstGeom prst="rect">
            <a:avLst/>
          </a:prstGeom>
          <a:noFill/>
          <a:ln/>
        </p:spPr>
        <p:txBody>
          <a:bodyPr wrap="square" lIns="0" tIns="0" rIns="0" bIns="0" rtlCol="0" anchor="t">
            <a:normAutofit/>
          </a:bodyPr>
          <a:lstStyle/>
          <a:p>
            <a:pPr algn="l" indent="0" marL="0">
              <a:lnSpc>
                <a:spcPts val="6720"/>
              </a:lnSpc>
              <a:buNone/>
            </a:pPr>
            <a:r>
              <a:rPr lang="en-US" sz="4800" spc="-100" kern="0" dirty="0">
                <a:solidFill>
                  <a:srgbClr val="F7F7F4"/>
                </a:solidFill>
                <a:latin typeface="Inter" pitchFamily="34" charset="0"/>
                <a:ea typeface="Inter" pitchFamily="34" charset="-122"/>
                <a:cs typeface="Inter" pitchFamily="34" charset="-120"/>
              </a:rPr>
              <a:t>RM 2</a:t>
            </a:r>
            <a:endParaRPr lang="en-US" sz="4800" dirty="0"/>
          </a:p>
        </p:txBody>
      </p:sp>
      <p:sp>
        <p:nvSpPr>
          <p:cNvPr id="5" name="Text 3"/>
          <p:cNvSpPr/>
          <p:nvPr/>
        </p:nvSpPr>
        <p:spPr>
          <a:xfrm>
            <a:off x="812800" y="4922441"/>
            <a:ext cx="503336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C6BC"/>
                </a:solidFill>
                <a:latin typeface="Inter" pitchFamily="34" charset="0"/>
                <a:ea typeface="Inter" pitchFamily="34" charset="-122"/>
                <a:cs typeface="Inter" pitchFamily="34" charset="-120"/>
              </a:rPr>
              <a:t>lost when a croissant is thrown away (its cost)</a:t>
            </a:r>
            <a:endParaRPr lang="en-US" sz="1600" dirty="0"/>
          </a:p>
        </p:txBody>
      </p:sp>
      <p:sp>
        <p:nvSpPr>
          <p:cNvPr id="6" name="Text 4"/>
          <p:cNvSpPr/>
          <p:nvPr/>
        </p:nvSpPr>
        <p:spPr>
          <a:xfrm>
            <a:off x="5846167" y="4018211"/>
            <a:ext cx="4632105" cy="878830"/>
          </a:xfrm>
          <a:prstGeom prst="rect">
            <a:avLst/>
          </a:prstGeom>
          <a:noFill/>
          <a:ln/>
        </p:spPr>
        <p:txBody>
          <a:bodyPr wrap="square" lIns="0" tIns="0" rIns="0" bIns="0" rtlCol="0" anchor="t">
            <a:normAutofit/>
          </a:bodyPr>
          <a:lstStyle/>
          <a:p>
            <a:pPr algn="l" indent="0" marL="0">
              <a:lnSpc>
                <a:spcPts val="6720"/>
              </a:lnSpc>
              <a:buNone/>
            </a:pPr>
            <a:r>
              <a:rPr lang="en-US" sz="4800" spc="-100" kern="0" dirty="0">
                <a:solidFill>
                  <a:srgbClr val="F7A46F"/>
                </a:solidFill>
                <a:latin typeface="Inter" pitchFamily="34" charset="0"/>
                <a:ea typeface="Inter" pitchFamily="34" charset="-122"/>
                <a:cs typeface="Inter" pitchFamily="34" charset="-120"/>
              </a:rPr>
              <a:t>RM 6</a:t>
            </a:r>
            <a:endParaRPr lang="en-US" sz="4800" dirty="0"/>
          </a:p>
        </p:txBody>
      </p:sp>
      <p:sp>
        <p:nvSpPr>
          <p:cNvPr id="7" name="Text 5"/>
          <p:cNvSpPr/>
          <p:nvPr/>
        </p:nvSpPr>
        <p:spPr>
          <a:xfrm>
            <a:off x="5846167" y="4922441"/>
            <a:ext cx="539662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C6BC"/>
                </a:solidFill>
                <a:latin typeface="Inter" pitchFamily="34" charset="0"/>
                <a:ea typeface="Inter" pitchFamily="34" charset="-122"/>
                <a:cs typeface="Inter" pitchFamily="34" charset="-120"/>
              </a:rPr>
              <a:t>lost when a customer can’t buy one (the profit)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4200"/>
                </a:solidFill>
                <a:latin typeface="Inter" pitchFamily="34" charset="0"/>
                <a:ea typeface="Inter" pitchFamily="34" charset="-122"/>
                <a:cs typeface="Inter" pitchFamily="34" charset="-120"/>
              </a:rPr>
              <a:t>OUR SOLUTION</a:t>
            </a:r>
            <a:endParaRPr lang="en-US" sz="1200" dirty="0"/>
          </a:p>
        </p:txBody>
      </p:sp>
      <p:sp>
        <p:nvSpPr>
          <p:cNvPr id="3" name="Text 1"/>
          <p:cNvSpPr/>
          <p:nvPr>
            <p:ph type="title"/>
          </p:nvPr>
        </p:nvSpPr>
        <p:spPr>
          <a:xfrm>
            <a:off x="812800" y="1381720"/>
            <a:ext cx="11379200" cy="551160"/>
          </a:xfrm>
          <a:prstGeom prst="rect">
            <a:avLst/>
          </a:prstGeom>
          <a:noFill/>
          <a:ln/>
        </p:spPr>
        <p:txBody>
          <a:bodyPr wrap="square" lIns="0" tIns="0" rIns="0" bIns="0" rtlCol="0" anchor="t">
            <a:normAutofit/>
          </a:bodyPr>
          <a:lstStyle/>
          <a:p>
            <a:pPr algn="l" indent="0" marL="0">
              <a:lnSpc>
                <a:spcPts val="4140"/>
              </a:lnSpc>
              <a:buNone/>
            </a:pPr>
            <a:r>
              <a:rPr lang="en-US" sz="3600" b="0" i="0" spc="-75" kern="0" dirty="0">
                <a:solidFill>
                  <a:srgbClr val="26251E"/>
                </a:solidFill>
                <a:latin typeface="Inter" pitchFamily="34" charset="0"/>
                <a:ea typeface="Inter" pitchFamily="34" charset="-122"/>
                <a:cs typeface="Inter" pitchFamily="34" charset="-120"/>
              </a:rPr>
              <a:t>A daily loop on Telegram, the app staff already use</a:t>
            </a:r>
            <a:endParaRPr lang="en-US" sz="3600" dirty="0"/>
          </a:p>
        </p:txBody>
      </p:sp>
      <p:sp>
        <p:nvSpPr>
          <p:cNvPr id="4" name="Shape 2"/>
          <p:cNvSpPr/>
          <p:nvPr/>
        </p:nvSpPr>
        <p:spPr>
          <a:xfrm>
            <a:off x="815975" y="2266255"/>
            <a:ext cx="2482850" cy="2129681"/>
          </a:xfrm>
          <a:prstGeom prst="roundRect">
            <a:avLst>
              <a:gd name="adj" fmla="val 3429"/>
            </a:avLst>
          </a:prstGeom>
          <a:solidFill>
            <a:srgbClr val="FFFFFF"/>
          </a:solidFill>
          <a:ln w="6350">
            <a:solidFill>
              <a:srgbClr val="E6E5E0"/>
            </a:solidFill>
            <a:prstDash val="solid"/>
          </a:ln>
        </p:spPr>
      </p:sp>
      <p:sp>
        <p:nvSpPr>
          <p:cNvPr id="5" name="Text 3"/>
          <p:cNvSpPr/>
          <p:nvPr/>
        </p:nvSpPr>
        <p:spPr>
          <a:xfrm>
            <a:off x="1073150" y="2523430"/>
            <a:ext cx="202755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04200"/>
                </a:solidFill>
                <a:latin typeface="JetBrains Mono" pitchFamily="49" charset="0"/>
                <a:ea typeface="JetBrains Mono" pitchFamily="49" charset="-122"/>
                <a:cs typeface="JetBrains Mono" pitchFamily="49" charset="-120"/>
              </a:rPr>
              <a:t>01</a:t>
            </a:r>
            <a:endParaRPr lang="en-US" sz="1600" dirty="0"/>
          </a:p>
        </p:txBody>
      </p:sp>
      <p:sp>
        <p:nvSpPr>
          <p:cNvPr id="6" name="Text 4"/>
          <p:cNvSpPr/>
          <p:nvPr/>
        </p:nvSpPr>
        <p:spPr>
          <a:xfrm>
            <a:off x="1073150" y="2909491"/>
            <a:ext cx="20275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6251E"/>
                </a:solidFill>
                <a:latin typeface="Inter" pitchFamily="34" charset="0"/>
                <a:ea typeface="Inter" pitchFamily="34" charset="-122"/>
                <a:cs typeface="Inter" pitchFamily="34" charset="-120"/>
              </a:rPr>
              <a:t>Closing count</a:t>
            </a:r>
            <a:endParaRPr lang="en-US" sz="1600" dirty="0"/>
          </a:p>
        </p:txBody>
      </p:sp>
      <p:sp>
        <p:nvSpPr>
          <p:cNvPr id="7" name="Text 5"/>
          <p:cNvSpPr/>
          <p:nvPr/>
        </p:nvSpPr>
        <p:spPr>
          <a:xfrm>
            <a:off x="1073150" y="3254921"/>
            <a:ext cx="2027555"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A5852"/>
                </a:solidFill>
                <a:latin typeface="Inter" pitchFamily="34" charset="0"/>
                <a:ea typeface="Inter" pitchFamily="34" charset="-122"/>
                <a:cs typeface="Inter" pitchFamily="34" charset="-120"/>
              </a:rPr>
              <a:t>Staff tap in what’s left of each item, and roughly when anything sold out.</a:t>
            </a:r>
            <a:endParaRPr lang="en-US" sz="1200" dirty="0"/>
          </a:p>
        </p:txBody>
      </p:sp>
      <p:sp>
        <p:nvSpPr>
          <p:cNvPr id="8" name="Shape 6"/>
          <p:cNvSpPr/>
          <p:nvPr/>
        </p:nvSpPr>
        <p:spPr>
          <a:xfrm>
            <a:off x="3508375" y="2266255"/>
            <a:ext cx="2482850" cy="2129681"/>
          </a:xfrm>
          <a:prstGeom prst="roundRect">
            <a:avLst>
              <a:gd name="adj" fmla="val 3429"/>
            </a:avLst>
          </a:prstGeom>
          <a:solidFill>
            <a:srgbClr val="FFFFFF"/>
          </a:solidFill>
          <a:ln w="6350">
            <a:solidFill>
              <a:srgbClr val="E6E5E0"/>
            </a:solidFill>
            <a:prstDash val="solid"/>
          </a:ln>
        </p:spPr>
      </p:sp>
      <p:sp>
        <p:nvSpPr>
          <p:cNvPr id="9" name="Text 7"/>
          <p:cNvSpPr/>
          <p:nvPr/>
        </p:nvSpPr>
        <p:spPr>
          <a:xfrm>
            <a:off x="3765550" y="2523430"/>
            <a:ext cx="202755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04200"/>
                </a:solidFill>
                <a:latin typeface="JetBrains Mono" pitchFamily="49" charset="0"/>
                <a:ea typeface="JetBrains Mono" pitchFamily="49" charset="-122"/>
                <a:cs typeface="JetBrains Mono" pitchFamily="49" charset="-120"/>
              </a:rPr>
              <a:t>02</a:t>
            </a:r>
            <a:endParaRPr lang="en-US" sz="1600" dirty="0"/>
          </a:p>
        </p:txBody>
      </p:sp>
      <p:sp>
        <p:nvSpPr>
          <p:cNvPr id="10" name="Text 8"/>
          <p:cNvSpPr/>
          <p:nvPr/>
        </p:nvSpPr>
        <p:spPr>
          <a:xfrm>
            <a:off x="3765550" y="2909491"/>
            <a:ext cx="20275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6251E"/>
                </a:solidFill>
                <a:latin typeface="Inter" pitchFamily="34" charset="0"/>
                <a:ea typeface="Inter" pitchFamily="34" charset="-122"/>
                <a:cs typeface="Inter" pitchFamily="34" charset="-120"/>
              </a:rPr>
              <a:t>AI plans</a:t>
            </a:r>
            <a:endParaRPr lang="en-US" sz="1600" dirty="0"/>
          </a:p>
        </p:txBody>
      </p:sp>
      <p:sp>
        <p:nvSpPr>
          <p:cNvPr id="11" name="Text 9"/>
          <p:cNvSpPr/>
          <p:nvPr/>
        </p:nvSpPr>
        <p:spPr>
          <a:xfrm>
            <a:off x="3765550" y="3254921"/>
            <a:ext cx="2027555"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A5852"/>
                </a:solidFill>
                <a:latin typeface="Inter" pitchFamily="34" charset="0"/>
                <a:ea typeface="Inter" pitchFamily="34" charset="-122"/>
                <a:cs typeface="Inter" pitchFamily="34" charset="-120"/>
              </a:rPr>
              <a:t>The model learns from history and weather and picks tomorrow’s quantity, with a reason.</a:t>
            </a:r>
            <a:endParaRPr lang="en-US" sz="1200" dirty="0"/>
          </a:p>
        </p:txBody>
      </p:sp>
      <p:sp>
        <p:nvSpPr>
          <p:cNvPr id="12" name="Shape 10"/>
          <p:cNvSpPr/>
          <p:nvPr/>
        </p:nvSpPr>
        <p:spPr>
          <a:xfrm>
            <a:off x="6200775" y="2266255"/>
            <a:ext cx="2482850" cy="2129681"/>
          </a:xfrm>
          <a:prstGeom prst="roundRect">
            <a:avLst>
              <a:gd name="adj" fmla="val 3429"/>
            </a:avLst>
          </a:prstGeom>
          <a:solidFill>
            <a:srgbClr val="FFFFFF"/>
          </a:solidFill>
          <a:ln w="6350">
            <a:solidFill>
              <a:srgbClr val="E6E5E0"/>
            </a:solidFill>
            <a:prstDash val="solid"/>
          </a:ln>
        </p:spPr>
      </p:sp>
      <p:sp>
        <p:nvSpPr>
          <p:cNvPr id="13" name="Text 11"/>
          <p:cNvSpPr/>
          <p:nvPr/>
        </p:nvSpPr>
        <p:spPr>
          <a:xfrm>
            <a:off x="6457950" y="2523430"/>
            <a:ext cx="202755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04200"/>
                </a:solidFill>
                <a:latin typeface="JetBrains Mono" pitchFamily="49" charset="0"/>
                <a:ea typeface="JetBrains Mono" pitchFamily="49" charset="-122"/>
                <a:cs typeface="JetBrains Mono" pitchFamily="49" charset="-120"/>
              </a:rPr>
              <a:t>03</a:t>
            </a:r>
            <a:endParaRPr lang="en-US" sz="1600" dirty="0"/>
          </a:p>
        </p:txBody>
      </p:sp>
      <p:sp>
        <p:nvSpPr>
          <p:cNvPr id="14" name="Text 12"/>
          <p:cNvSpPr/>
          <p:nvPr/>
        </p:nvSpPr>
        <p:spPr>
          <a:xfrm>
            <a:off x="6457950" y="2909491"/>
            <a:ext cx="20275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6251E"/>
                </a:solidFill>
                <a:latin typeface="Inter" pitchFamily="34" charset="0"/>
                <a:ea typeface="Inter" pitchFamily="34" charset="-122"/>
                <a:cs typeface="Inter" pitchFamily="34" charset="-120"/>
              </a:rPr>
              <a:t>Manager approves</a:t>
            </a:r>
            <a:endParaRPr lang="en-US" sz="1600" dirty="0"/>
          </a:p>
        </p:txBody>
      </p:sp>
      <p:sp>
        <p:nvSpPr>
          <p:cNvPr id="15" name="Text 13"/>
          <p:cNvSpPr/>
          <p:nvPr/>
        </p:nvSpPr>
        <p:spPr>
          <a:xfrm>
            <a:off x="6457950" y="3254921"/>
            <a:ext cx="2027555"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A5852"/>
                </a:solidFill>
                <a:latin typeface="Inter" pitchFamily="34" charset="0"/>
                <a:ea typeface="Inter" pitchFamily="34" charset="-122"/>
                <a:cs typeface="Inter" pitchFamily="34" charset="-120"/>
              </a:rPr>
              <a:t>At 2 PM the manager gets the plan and taps Approve or Edit. Only the manager can.</a:t>
            </a:r>
            <a:endParaRPr lang="en-US" sz="1200" dirty="0"/>
          </a:p>
        </p:txBody>
      </p:sp>
      <p:sp>
        <p:nvSpPr>
          <p:cNvPr id="16" name="Shape 14"/>
          <p:cNvSpPr/>
          <p:nvPr/>
        </p:nvSpPr>
        <p:spPr>
          <a:xfrm>
            <a:off x="8893175" y="2266255"/>
            <a:ext cx="2482850" cy="2129681"/>
          </a:xfrm>
          <a:prstGeom prst="roundRect">
            <a:avLst>
              <a:gd name="adj" fmla="val 3429"/>
            </a:avLst>
          </a:prstGeom>
          <a:solidFill>
            <a:srgbClr val="FFFFFF"/>
          </a:solidFill>
          <a:ln w="6350">
            <a:solidFill>
              <a:srgbClr val="E6E5E0"/>
            </a:solidFill>
            <a:prstDash val="solid"/>
          </a:ln>
        </p:spPr>
      </p:sp>
      <p:sp>
        <p:nvSpPr>
          <p:cNvPr id="17" name="Text 15"/>
          <p:cNvSpPr/>
          <p:nvPr/>
        </p:nvSpPr>
        <p:spPr>
          <a:xfrm>
            <a:off x="9150350" y="2523430"/>
            <a:ext cx="202755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04200"/>
                </a:solidFill>
                <a:latin typeface="JetBrains Mono" pitchFamily="49" charset="0"/>
                <a:ea typeface="JetBrains Mono" pitchFamily="49" charset="-122"/>
                <a:cs typeface="JetBrains Mono" pitchFamily="49" charset="-120"/>
              </a:rPr>
              <a:t>04</a:t>
            </a:r>
            <a:endParaRPr lang="en-US" sz="1600" dirty="0"/>
          </a:p>
        </p:txBody>
      </p:sp>
      <p:sp>
        <p:nvSpPr>
          <p:cNvPr id="18" name="Text 16"/>
          <p:cNvSpPr/>
          <p:nvPr/>
        </p:nvSpPr>
        <p:spPr>
          <a:xfrm>
            <a:off x="9150350" y="2909491"/>
            <a:ext cx="20275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6251E"/>
                </a:solidFill>
                <a:latin typeface="Inter" pitchFamily="34" charset="0"/>
                <a:ea typeface="Inter" pitchFamily="34" charset="-122"/>
                <a:cs typeface="Inter" pitchFamily="34" charset="-120"/>
              </a:rPr>
              <a:t>Baker bakes</a:t>
            </a:r>
            <a:endParaRPr lang="en-US" sz="1600" dirty="0"/>
          </a:p>
        </p:txBody>
      </p:sp>
      <p:sp>
        <p:nvSpPr>
          <p:cNvPr id="19" name="Text 17"/>
          <p:cNvSpPr/>
          <p:nvPr/>
        </p:nvSpPr>
        <p:spPr>
          <a:xfrm>
            <a:off x="9150350" y="3254921"/>
            <a:ext cx="2027555"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A5852"/>
                </a:solidFill>
                <a:latin typeface="Inter" pitchFamily="34" charset="0"/>
                <a:ea typeface="Inter" pitchFamily="34" charset="-122"/>
                <a:cs typeface="Inter" pitchFamily="34" charset="-120"/>
              </a:rPr>
              <a:t>The baker receives the final list and bakes just the right amount.</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852"/>
                </a:solidFill>
                <a:latin typeface="Inter" pitchFamily="34" charset="0"/>
                <a:ea typeface="Inter" pitchFamily="34" charset="-122"/>
                <a:cs typeface="Inter" pitchFamily="34" charset="-120"/>
              </a:rPr>
              <a:t>Every action is logged, and the manager sees waste in RM on a web dashboard.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4200"/>
                </a:solidFill>
                <a:latin typeface="Inter" pitchFamily="34" charset="0"/>
                <a:ea typeface="Inter" pitchFamily="34" charset="-122"/>
                <a:cs typeface="Inter" pitchFamily="34" charset="-120"/>
              </a:rPr>
              <a:t>HOW THE AI WORKS</a:t>
            </a:r>
            <a:endParaRPr lang="en-US" sz="1200" dirty="0"/>
          </a:p>
        </p:txBody>
      </p:sp>
      <p:sp>
        <p:nvSpPr>
          <p:cNvPr id="3" name="Text 1"/>
          <p:cNvSpPr/>
          <p:nvPr>
            <p:ph type="title"/>
          </p:nvPr>
        </p:nvSpPr>
        <p:spPr>
          <a:xfrm>
            <a:off x="812800" y="12801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0" i="0" spc="-75" kern="0" dirty="0">
                <a:solidFill>
                  <a:srgbClr val="26251E"/>
                </a:solidFill>
                <a:latin typeface="Inter" pitchFamily="34" charset="0"/>
                <a:ea typeface="Inter" pitchFamily="34" charset="-122"/>
                <a:cs typeface="Inter" pitchFamily="34" charset="-120"/>
              </a:rPr>
              <a:t>It learns each shop’s own pattern, every night</a:t>
            </a:r>
            <a:endParaRPr lang="en-US" sz="3600" dirty="0"/>
          </a:p>
        </p:txBody>
      </p:sp>
      <p:sp>
        <p:nvSpPr>
          <p:cNvPr id="4" name="Text 2"/>
          <p:cNvSpPr/>
          <p:nvPr/>
        </p:nvSpPr>
        <p:spPr>
          <a:xfrm>
            <a:off x="812800" y="2059880"/>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6251E"/>
                </a:solidFill>
                <a:latin typeface="Inter" pitchFamily="34" charset="0"/>
                <a:ea typeface="Inter" pitchFamily="34" charset="-122"/>
                <a:cs typeface="Inter" pitchFamily="34" charset="-120"/>
              </a:rPr>
              <a:t>Forecast demand</a:t>
            </a:r>
            <a:endParaRPr lang="en-US" sz="1600" dirty="0"/>
          </a:p>
        </p:txBody>
      </p:sp>
      <p:sp>
        <p:nvSpPr>
          <p:cNvPr id="5" name="Text 3"/>
          <p:cNvSpPr/>
          <p:nvPr/>
        </p:nvSpPr>
        <p:spPr>
          <a:xfrm>
            <a:off x="812800" y="2354511"/>
            <a:ext cx="680212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A5852"/>
                </a:solidFill>
                <a:latin typeface="Inter" pitchFamily="34" charset="0"/>
                <a:ea typeface="Inter" pitchFamily="34" charset="-122"/>
                <a:cs typeface="Inter" pitchFamily="34" charset="-120"/>
              </a:rPr>
              <a:t>A machine-learning model (scikit-learn) per item, using weekday and live weather from Open-Meteo. Retrains every night.</a:t>
            </a:r>
            <a:endParaRPr lang="en-US" sz="1400" dirty="0"/>
          </a:p>
        </p:txBody>
      </p:sp>
      <p:sp>
        <p:nvSpPr>
          <p:cNvPr id="6" name="Text 4"/>
          <p:cNvSpPr/>
          <p:nvPr/>
        </p:nvSpPr>
        <p:spPr>
          <a:xfrm>
            <a:off x="812800" y="3073251"/>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6251E"/>
                </a:solidFill>
                <a:latin typeface="Inter" pitchFamily="34" charset="0"/>
                <a:ea typeface="Inter" pitchFamily="34" charset="-122"/>
                <a:cs typeface="Inter" pitchFamily="34" charset="-120"/>
              </a:rPr>
              <a:t>Counts hidden demand</a:t>
            </a:r>
            <a:endParaRPr lang="en-US" sz="1600" dirty="0"/>
          </a:p>
        </p:txBody>
      </p:sp>
      <p:sp>
        <p:nvSpPr>
          <p:cNvPr id="7" name="Text 5"/>
          <p:cNvSpPr/>
          <p:nvPr/>
        </p:nvSpPr>
        <p:spPr>
          <a:xfrm>
            <a:off x="812800" y="3367881"/>
            <a:ext cx="680212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A5852"/>
                </a:solidFill>
                <a:latin typeface="Inter" pitchFamily="34" charset="0"/>
                <a:ea typeface="Inter" pitchFamily="34" charset="-122"/>
                <a:cs typeface="Inter" pitchFamily="34" charset="-120"/>
              </a:rPr>
              <a:t>A sell-out at 11 AM means people wanted more. We scale demand up by how early it sold out.</a:t>
            </a:r>
            <a:endParaRPr lang="en-US" sz="1400" dirty="0"/>
          </a:p>
        </p:txBody>
      </p:sp>
      <p:sp>
        <p:nvSpPr>
          <p:cNvPr id="8" name="Text 6"/>
          <p:cNvSpPr/>
          <p:nvPr/>
        </p:nvSpPr>
        <p:spPr>
          <a:xfrm>
            <a:off x="812800" y="4086622"/>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6251E"/>
                </a:solidFill>
                <a:latin typeface="Inter" pitchFamily="34" charset="0"/>
                <a:ea typeface="Inter" pitchFamily="34" charset="-122"/>
                <a:cs typeface="Inter" pitchFamily="34" charset="-120"/>
              </a:rPr>
              <a:t>Picks a safe quantity</a:t>
            </a:r>
            <a:endParaRPr lang="en-US" sz="1600" dirty="0"/>
          </a:p>
        </p:txBody>
      </p:sp>
      <p:sp>
        <p:nvSpPr>
          <p:cNvPr id="9" name="Text 7"/>
          <p:cNvSpPr/>
          <p:nvPr/>
        </p:nvSpPr>
        <p:spPr>
          <a:xfrm>
            <a:off x="812800" y="4381252"/>
            <a:ext cx="680212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A5852"/>
                </a:solidFill>
                <a:latin typeface="Inter" pitchFamily="34" charset="0"/>
                <a:ea typeface="Inter" pitchFamily="34" charset="-122"/>
                <a:cs typeface="Inter" pitchFamily="34" charset="-120"/>
              </a:rPr>
              <a:t>A newsvendor rule uses price and cost to choose the amount. Changes are capped at ±15% a day.</a:t>
            </a:r>
            <a:endParaRPr lang="en-US" sz="1400" dirty="0"/>
          </a:p>
        </p:txBody>
      </p:sp>
      <p:sp>
        <p:nvSpPr>
          <p:cNvPr id="10" name="Shape 8"/>
          <p:cNvSpPr/>
          <p:nvPr/>
        </p:nvSpPr>
        <p:spPr>
          <a:xfrm>
            <a:off x="7826375" y="2063055"/>
            <a:ext cx="3549650" cy="2830562"/>
          </a:xfrm>
          <a:prstGeom prst="roundRect">
            <a:avLst>
              <a:gd name="adj" fmla="val 2580"/>
            </a:avLst>
          </a:prstGeom>
          <a:solidFill>
            <a:srgbClr val="FFFFFF"/>
          </a:solidFill>
          <a:ln w="6350">
            <a:solidFill>
              <a:srgbClr val="E6E5E0"/>
            </a:solidFill>
            <a:prstDash val="solid"/>
          </a:ln>
        </p:spPr>
      </p:sp>
      <p:sp>
        <p:nvSpPr>
          <p:cNvPr id="11" name="Text 9"/>
          <p:cNvSpPr/>
          <p:nvPr/>
        </p:nvSpPr>
        <p:spPr>
          <a:xfrm>
            <a:off x="8134350" y="2406501"/>
            <a:ext cx="302171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5852"/>
                </a:solidFill>
                <a:latin typeface="Inter" pitchFamily="34" charset="0"/>
                <a:ea typeface="Inter" pitchFamily="34" charset="-122"/>
                <a:cs typeface="Inter" pitchFamily="34" charset="-120"/>
              </a:rPr>
              <a:t>SELF-CHECK</a:t>
            </a:r>
            <a:endParaRPr lang="en-US" sz="1200" dirty="0"/>
          </a:p>
        </p:txBody>
      </p:sp>
      <p:sp>
        <p:nvSpPr>
          <p:cNvPr id="12" name="Text 10"/>
          <p:cNvSpPr/>
          <p:nvPr/>
        </p:nvSpPr>
        <p:spPr>
          <a:xfrm>
            <a:off x="8134350" y="2772221"/>
            <a:ext cx="3021711" cy="787400"/>
          </a:xfrm>
          <a:prstGeom prst="rect">
            <a:avLst/>
          </a:prstGeom>
          <a:noFill/>
          <a:ln/>
        </p:spPr>
        <p:txBody>
          <a:bodyPr wrap="square" lIns="0" tIns="0" rIns="0" bIns="0" rtlCol="0" anchor="t">
            <a:normAutofit/>
          </a:bodyPr>
          <a:lstStyle/>
          <a:p>
            <a:pPr algn="l" indent="0" marL="0">
              <a:lnSpc>
                <a:spcPts val="6000"/>
              </a:lnSpc>
              <a:buNone/>
            </a:pPr>
            <a:r>
              <a:rPr lang="en-US" sz="6000" spc="-150" kern="0" dirty="0">
                <a:solidFill>
                  <a:srgbClr val="26251E"/>
                </a:solidFill>
                <a:latin typeface="Inter" pitchFamily="34" charset="0"/>
                <a:ea typeface="Inter" pitchFamily="34" charset="-122"/>
                <a:cs typeface="Inter" pitchFamily="34" charset="-120"/>
              </a:rPr>
              <a:t>2.4</a:t>
            </a:r>
            <a:endParaRPr lang="en-US" sz="6000" dirty="0"/>
          </a:p>
        </p:txBody>
      </p:sp>
      <p:sp>
        <p:nvSpPr>
          <p:cNvPr id="13" name="Text 11"/>
          <p:cNvSpPr/>
          <p:nvPr/>
        </p:nvSpPr>
        <p:spPr>
          <a:xfrm>
            <a:off x="8134350" y="3686621"/>
            <a:ext cx="302171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852"/>
                </a:solidFill>
                <a:latin typeface="Inter" pitchFamily="34" charset="0"/>
                <a:ea typeface="Inter" pitchFamily="34" charset="-122"/>
                <a:cs typeface="Inter" pitchFamily="34" charset="-120"/>
              </a:rPr>
              <a:t>pieces off per item per day, vs </a:t>
            </a:r>
            <a:r>
              <a:rPr lang="en-US" sz="1400" b="1" dirty="0">
                <a:solidFill>
                  <a:srgbClr val="5A5852"/>
                </a:solidFill>
                <a:latin typeface="Inter" pitchFamily="34" charset="0"/>
                <a:ea typeface="Inter" pitchFamily="34" charset="-122"/>
                <a:cs typeface="Inter" pitchFamily="34" charset="-120"/>
              </a:rPr>
              <a:t>3.2</a:t>
            </a:r>
            <a:r>
              <a:rPr lang="en-US" sz="1400" dirty="0">
                <a:solidFill>
                  <a:srgbClr val="5A5852"/>
                </a:solidFill>
                <a:latin typeface="Inter" pitchFamily="34" charset="0"/>
                <a:ea typeface="Inter" pitchFamily="34" charset="-122"/>
                <a:cs typeface="Inter" pitchFamily="34" charset="-120"/>
              </a:rPr>
              <a:t> for a plain 28-day average</a:t>
            </a:r>
            <a:endParaRPr lang="en-US" sz="1400" dirty="0"/>
          </a:p>
        </p:txBody>
      </p:sp>
      <p:sp>
        <p:nvSpPr>
          <p:cNvPr id="14" name="Text 12"/>
          <p:cNvSpPr/>
          <p:nvPr/>
        </p:nvSpPr>
        <p:spPr>
          <a:xfrm>
            <a:off x="8134350" y="4336802"/>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852"/>
                </a:solidFill>
                <a:latin typeface="Inter" pitchFamily="34" charset="0"/>
                <a:ea typeface="Inter" pitchFamily="34" charset="-122"/>
                <a:cs typeface="Inter" pitchFamily="34" charset="-120"/>
              </a:rPr>
              <a:t>On simulated sample data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EEE8"/>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6496824" cy="551160"/>
          </a:xfrm>
          <a:prstGeom prst="rect">
            <a:avLst/>
          </a:prstGeom>
          <a:noFill/>
          <a:ln/>
        </p:spPr>
        <p:txBody>
          <a:bodyPr wrap="square" lIns="0" tIns="0" rIns="0" bIns="0" rtlCol="0" anchor="t">
            <a:normAutofit/>
          </a:bodyPr>
          <a:lstStyle/>
          <a:p>
            <a:pPr algn="l" indent="0" marL="0">
              <a:lnSpc>
                <a:spcPts val="4140"/>
              </a:lnSpc>
              <a:buNone/>
            </a:pPr>
            <a:r>
              <a:rPr lang="en-US" sz="3600" b="0" i="0" spc="-75" kern="0" dirty="0">
                <a:solidFill>
                  <a:srgbClr val="26251E"/>
                </a:solidFill>
                <a:latin typeface="Inter" pitchFamily="34" charset="0"/>
                <a:ea typeface="Inter" pitchFamily="34" charset="-122"/>
                <a:cs typeface="Inter" pitchFamily="34" charset="-120"/>
              </a:rPr>
              <a:t>The manager’s dashboard</a:t>
            </a:r>
            <a:endParaRPr lang="en-US" sz="3600" dirty="0"/>
          </a:p>
        </p:txBody>
      </p:sp>
      <p:sp>
        <p:nvSpPr>
          <p:cNvPr id="3" name="Text 1"/>
          <p:cNvSpPr/>
          <p:nvPr/>
        </p:nvSpPr>
        <p:spPr>
          <a:xfrm>
            <a:off x="10246261" y="922040"/>
            <a:ext cx="1132939"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D04200"/>
                </a:solidFill>
                <a:latin typeface="Inter" pitchFamily="34" charset="0"/>
                <a:ea typeface="Inter" pitchFamily="34" charset="-122"/>
                <a:cs typeface="Inter" pitchFamily="34" charset="-120"/>
              </a:rPr>
              <a:t>LIVE DEMO</a:t>
            </a:r>
            <a:endParaRPr lang="en-US" sz="1200" dirty="0"/>
          </a:p>
        </p:txBody>
      </p:sp>
      <p:pic>
        <p:nvPicPr>
          <p:cNvPr id="4" name="Image 0" descr="Just Right dashboard showing weekly waste in RM, today’s plan and tomorrow’s approved plan">    </p:cNvPr>
          <p:cNvPicPr>
            <a:picLocks noChangeAspect="1"/>
          </p:cNvPicPr>
          <p:nvPr/>
        </p:nvPicPr>
        <p:blipFill>
          <a:blip r:embed="rId1"/>
          <a:stretch>
            <a:fillRect/>
          </a:stretch>
        </p:blipFill>
        <p:spPr>
          <a:xfrm>
            <a:off x="2282495" y="1389360"/>
            <a:ext cx="7627010" cy="4318000"/>
          </a:xfrm>
          <a:prstGeom prst="rect">
            <a:avLst/>
          </a:prstGeom>
        </p:spPr>
      </p:pic>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852"/>
                </a:solidFill>
                <a:latin typeface="Inter" pitchFamily="34" charset="0"/>
                <a:ea typeface="Inter" pitchFamily="34" charset="-122"/>
                <a:cs typeface="Inter" pitchFamily="34" charset="-120"/>
              </a:rPr>
              <a:t>just-right-linegidid.replit.app · Telegram: @justright_bakery_bot · sample data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4200"/>
                </a:solidFill>
                <a:latin typeface="Inter" pitchFamily="34" charset="0"/>
                <a:ea typeface="Inter" pitchFamily="34" charset="-122"/>
                <a:cs typeface="Inter" pitchFamily="34" charset="-120"/>
              </a:rPr>
              <a:t>IMPACT</a:t>
            </a:r>
            <a:endParaRPr lang="en-US" sz="1200" dirty="0"/>
          </a:p>
        </p:txBody>
      </p:sp>
      <p:sp>
        <p:nvSpPr>
          <p:cNvPr id="3" name="Text 1"/>
          <p:cNvSpPr/>
          <p:nvPr>
            <p:ph type="title"/>
          </p:nvPr>
        </p:nvSpPr>
        <p:spPr>
          <a:xfrm>
            <a:off x="812800" y="13817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0" i="0" spc="-75" kern="0" dirty="0">
                <a:solidFill>
                  <a:srgbClr val="26251E"/>
                </a:solidFill>
                <a:latin typeface="Inter" pitchFamily="34" charset="0"/>
                <a:ea typeface="Inter" pitchFamily="34" charset="-122"/>
                <a:cs typeface="Inter" pitchFamily="34" charset="-120"/>
              </a:rPr>
              <a:t>Less waste, fewer sell-outs, better margins</a:t>
            </a:r>
            <a:endParaRPr lang="en-US" sz="3600" dirty="0"/>
          </a:p>
        </p:txBody>
      </p:sp>
      <p:sp>
        <p:nvSpPr>
          <p:cNvPr id="4" name="Shape 2"/>
          <p:cNvSpPr/>
          <p:nvPr/>
        </p:nvSpPr>
        <p:spPr>
          <a:xfrm>
            <a:off x="815975" y="2266255"/>
            <a:ext cx="3380284" cy="2287141"/>
          </a:xfrm>
          <a:prstGeom prst="roundRect">
            <a:avLst>
              <a:gd name="adj" fmla="val 3193"/>
            </a:avLst>
          </a:prstGeom>
          <a:solidFill>
            <a:srgbClr val="FFFFFF"/>
          </a:solidFill>
          <a:ln w="6350">
            <a:solidFill>
              <a:srgbClr val="E6E5E0"/>
            </a:solidFill>
            <a:prstDash val="solid"/>
          </a:ln>
        </p:spPr>
      </p:sp>
      <p:sp>
        <p:nvSpPr>
          <p:cNvPr id="5" name="Text 3"/>
          <p:cNvSpPr/>
          <p:nvPr/>
        </p:nvSpPr>
        <p:spPr>
          <a:xfrm>
            <a:off x="1073150" y="25234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5852"/>
                </a:solidFill>
                <a:latin typeface="Inter" pitchFamily="34" charset="0"/>
                <a:ea typeface="Inter" pitchFamily="34" charset="-122"/>
                <a:cs typeface="Inter" pitchFamily="34" charset="-120"/>
              </a:rPr>
              <a:t>BASELINE</a:t>
            </a:r>
            <a:endParaRPr lang="en-US" sz="1200" dirty="0"/>
          </a:p>
        </p:txBody>
      </p:sp>
      <p:sp>
        <p:nvSpPr>
          <p:cNvPr id="6" name="Text 4"/>
          <p:cNvSpPr/>
          <p:nvPr/>
        </p:nvSpPr>
        <p:spPr>
          <a:xfrm>
            <a:off x="1073150" y="2838351"/>
            <a:ext cx="2951912" cy="635000"/>
          </a:xfrm>
          <a:prstGeom prst="rect">
            <a:avLst/>
          </a:prstGeom>
          <a:noFill/>
          <a:ln/>
        </p:spPr>
        <p:txBody>
          <a:bodyPr wrap="square" lIns="0" tIns="0" rIns="0" bIns="0" rtlCol="0" anchor="t">
            <a:normAutofit/>
          </a:bodyPr>
          <a:lstStyle/>
          <a:p>
            <a:pPr algn="l" indent="0" marL="0">
              <a:lnSpc>
                <a:spcPts val="4800"/>
              </a:lnSpc>
              <a:buNone/>
            </a:pPr>
            <a:r>
              <a:rPr lang="en-US" sz="4800" spc="-100" kern="0" dirty="0">
                <a:solidFill>
                  <a:srgbClr val="26251E"/>
                </a:solidFill>
                <a:latin typeface="Inter" pitchFamily="34" charset="0"/>
                <a:ea typeface="Inter" pitchFamily="34" charset="-122"/>
                <a:cs typeface="Inter" pitchFamily="34" charset="-120"/>
              </a:rPr>
              <a:t>RM 340</a:t>
            </a:r>
            <a:endParaRPr lang="en-US" sz="4800" dirty="0"/>
          </a:p>
        </p:txBody>
      </p:sp>
      <p:sp>
        <p:nvSpPr>
          <p:cNvPr id="7" name="Text 5"/>
          <p:cNvSpPr/>
          <p:nvPr/>
        </p:nvSpPr>
        <p:spPr>
          <a:xfrm>
            <a:off x="1073150" y="3549551"/>
            <a:ext cx="295191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852"/>
                </a:solidFill>
                <a:latin typeface="Inter" pitchFamily="34" charset="0"/>
                <a:ea typeface="Inter" pitchFamily="34" charset="-122"/>
                <a:cs typeface="Inter" pitchFamily="34" charset="-120"/>
              </a:rPr>
              <a:t>wasted per week by baking the usual fixed batch (sample bakery, 3 items)</a:t>
            </a:r>
            <a:endParaRPr lang="en-US" sz="1400" dirty="0"/>
          </a:p>
        </p:txBody>
      </p:sp>
      <p:sp>
        <p:nvSpPr>
          <p:cNvPr id="8" name="Shape 6"/>
          <p:cNvSpPr/>
          <p:nvPr/>
        </p:nvSpPr>
        <p:spPr>
          <a:xfrm>
            <a:off x="4405809" y="2266255"/>
            <a:ext cx="3380333" cy="2287141"/>
          </a:xfrm>
          <a:prstGeom prst="roundRect">
            <a:avLst>
              <a:gd name="adj" fmla="val 3193"/>
            </a:avLst>
          </a:prstGeom>
          <a:solidFill>
            <a:srgbClr val="FFFFFF"/>
          </a:solidFill>
          <a:ln w="6350">
            <a:solidFill>
              <a:srgbClr val="E6E5E0"/>
            </a:solidFill>
            <a:prstDash val="solid"/>
          </a:ln>
        </p:spPr>
      </p:sp>
      <p:sp>
        <p:nvSpPr>
          <p:cNvPr id="9" name="Text 7"/>
          <p:cNvSpPr/>
          <p:nvPr/>
        </p:nvSpPr>
        <p:spPr>
          <a:xfrm>
            <a:off x="4662984" y="2523430"/>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5852"/>
                </a:solidFill>
                <a:latin typeface="Inter" pitchFamily="34" charset="0"/>
                <a:ea typeface="Inter" pitchFamily="34" charset="-122"/>
                <a:cs typeface="Inter" pitchFamily="34" charset="-120"/>
              </a:rPr>
              <a:t>TARGET</a:t>
            </a:r>
            <a:endParaRPr lang="en-US" sz="1200" dirty="0"/>
          </a:p>
        </p:txBody>
      </p:sp>
      <p:sp>
        <p:nvSpPr>
          <p:cNvPr id="10" name="Text 8"/>
          <p:cNvSpPr/>
          <p:nvPr/>
        </p:nvSpPr>
        <p:spPr>
          <a:xfrm>
            <a:off x="4662984" y="2838351"/>
            <a:ext cx="2951963" cy="635000"/>
          </a:xfrm>
          <a:prstGeom prst="rect">
            <a:avLst/>
          </a:prstGeom>
          <a:noFill/>
          <a:ln/>
        </p:spPr>
        <p:txBody>
          <a:bodyPr wrap="square" lIns="0" tIns="0" rIns="0" bIns="0" rtlCol="0" anchor="t">
            <a:normAutofit/>
          </a:bodyPr>
          <a:lstStyle/>
          <a:p>
            <a:pPr algn="l" indent="0" marL="0">
              <a:lnSpc>
                <a:spcPts val="4800"/>
              </a:lnSpc>
              <a:buNone/>
            </a:pPr>
            <a:r>
              <a:rPr lang="en-US" sz="4800" spc="-100" kern="0" dirty="0">
                <a:solidFill>
                  <a:srgbClr val="D04200"/>
                </a:solidFill>
                <a:latin typeface="Inter" pitchFamily="34" charset="0"/>
                <a:ea typeface="Inter" pitchFamily="34" charset="-122"/>
                <a:cs typeface="Inter" pitchFamily="34" charset="-120"/>
              </a:rPr>
              <a:t>−20%</a:t>
            </a:r>
            <a:endParaRPr lang="en-US" sz="4800" dirty="0"/>
          </a:p>
        </p:txBody>
      </p:sp>
      <p:sp>
        <p:nvSpPr>
          <p:cNvPr id="11" name="Text 9"/>
          <p:cNvSpPr/>
          <p:nvPr/>
        </p:nvSpPr>
        <p:spPr>
          <a:xfrm>
            <a:off x="4662984" y="3549551"/>
            <a:ext cx="295196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852"/>
                </a:solidFill>
                <a:latin typeface="Inter" pitchFamily="34" charset="0"/>
                <a:ea typeface="Inter" pitchFamily="34" charset="-122"/>
                <a:cs typeface="Inter" pitchFamily="34" charset="-120"/>
              </a:rPr>
              <a:t>weekly food waste in RM, with no increase in sell-outs</a:t>
            </a:r>
            <a:endParaRPr lang="en-US" sz="1400" dirty="0"/>
          </a:p>
        </p:txBody>
      </p:sp>
      <p:sp>
        <p:nvSpPr>
          <p:cNvPr id="12" name="Shape 10"/>
          <p:cNvSpPr/>
          <p:nvPr/>
        </p:nvSpPr>
        <p:spPr>
          <a:xfrm>
            <a:off x="7995692" y="2266255"/>
            <a:ext cx="3380333" cy="2287141"/>
          </a:xfrm>
          <a:prstGeom prst="roundRect">
            <a:avLst>
              <a:gd name="adj" fmla="val 3193"/>
            </a:avLst>
          </a:prstGeom>
          <a:solidFill>
            <a:srgbClr val="FFFFFF"/>
          </a:solidFill>
          <a:ln w="6350">
            <a:solidFill>
              <a:srgbClr val="E6E5E0"/>
            </a:solidFill>
            <a:prstDash val="solid"/>
          </a:ln>
        </p:spPr>
      </p:sp>
      <p:sp>
        <p:nvSpPr>
          <p:cNvPr id="13" name="Text 11"/>
          <p:cNvSpPr/>
          <p:nvPr/>
        </p:nvSpPr>
        <p:spPr>
          <a:xfrm>
            <a:off x="8252867" y="2523430"/>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5852"/>
                </a:solidFill>
                <a:latin typeface="Inter" pitchFamily="34" charset="0"/>
                <a:ea typeface="Inter" pitchFamily="34" charset="-122"/>
                <a:cs typeface="Inter" pitchFamily="34" charset="-120"/>
              </a:rPr>
              <a:t>SDG</a:t>
            </a:r>
            <a:endParaRPr lang="en-US" sz="1200" dirty="0"/>
          </a:p>
        </p:txBody>
      </p:sp>
      <p:sp>
        <p:nvSpPr>
          <p:cNvPr id="14" name="Text 12"/>
          <p:cNvSpPr/>
          <p:nvPr/>
        </p:nvSpPr>
        <p:spPr>
          <a:xfrm>
            <a:off x="8252867" y="2838351"/>
            <a:ext cx="2951963"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26251E"/>
                </a:solidFill>
                <a:latin typeface="Inter" pitchFamily="34" charset="0"/>
                <a:ea typeface="Inter" pitchFamily="34" charset="-122"/>
                <a:cs typeface="Inter" pitchFamily="34" charset="-120"/>
              </a:rPr>
              <a:t>SDG 8 &amp; SDG 12</a:t>
            </a:r>
            <a:endParaRPr lang="en-US" sz="2200" dirty="0"/>
          </a:p>
        </p:txBody>
      </p:sp>
      <p:sp>
        <p:nvSpPr>
          <p:cNvPr id="15" name="Text 13"/>
          <p:cNvSpPr/>
          <p:nvPr/>
        </p:nvSpPr>
        <p:spPr>
          <a:xfrm>
            <a:off x="8252867" y="3275211"/>
            <a:ext cx="2951963"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852"/>
                </a:solidFill>
                <a:latin typeface="Inter" pitchFamily="34" charset="0"/>
                <a:ea typeface="Inter" pitchFamily="34" charset="-122"/>
                <a:cs typeface="Inter" pitchFamily="34" charset="-120"/>
              </a:rPr>
              <a:t>8.2 productivity for small businesses through technology · 12.3 halve food waste at retail by 2030</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4200"/>
                </a:solidFill>
                <a:latin typeface="Inter" pitchFamily="34" charset="0"/>
                <a:ea typeface="Inter" pitchFamily="34" charset="-122"/>
                <a:cs typeface="Inter" pitchFamily="34" charset="-120"/>
              </a:rPr>
              <a:t>HOW IT’S BUILT</a:t>
            </a:r>
            <a:endParaRPr lang="en-US" sz="1200" dirty="0"/>
          </a:p>
        </p:txBody>
      </p:sp>
      <p:sp>
        <p:nvSpPr>
          <p:cNvPr id="3" name="Text 1"/>
          <p:cNvSpPr/>
          <p:nvPr>
            <p:ph type="title"/>
          </p:nvPr>
        </p:nvSpPr>
        <p:spPr>
          <a:xfrm>
            <a:off x="812800" y="13817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0" i="0" spc="-75" kern="0" dirty="0">
                <a:solidFill>
                  <a:srgbClr val="26251E"/>
                </a:solidFill>
                <a:latin typeface="Inter" pitchFamily="34" charset="0"/>
                <a:ea typeface="Inter" pitchFamily="34" charset="-122"/>
                <a:cs typeface="Inter" pitchFamily="34" charset="-120"/>
              </a:rPr>
              <a:t>Simple, cheap to run, always on</a:t>
            </a:r>
            <a:endParaRPr lang="en-US" sz="3600" dirty="0"/>
          </a:p>
        </p:txBody>
      </p:sp>
      <p:sp>
        <p:nvSpPr>
          <p:cNvPr id="4" name="Shape 2"/>
          <p:cNvSpPr/>
          <p:nvPr/>
        </p:nvSpPr>
        <p:spPr>
          <a:xfrm>
            <a:off x="812800" y="2269430"/>
            <a:ext cx="10566400" cy="0"/>
          </a:xfrm>
          <a:prstGeom prst="line">
            <a:avLst/>
          </a:prstGeom>
          <a:noFill/>
          <a:ln w="12700">
            <a:solidFill>
              <a:srgbClr val="141413">
                <a:alpha val="22000"/>
              </a:srgbClr>
            </a:solidFill>
            <a:prstDash val="solid"/>
          </a:ln>
        </p:spPr>
      </p:sp>
      <p:sp>
        <p:nvSpPr>
          <p:cNvPr id="5" name="Shape 3"/>
          <p:cNvSpPr/>
          <p:nvPr/>
        </p:nvSpPr>
        <p:spPr>
          <a:xfrm>
            <a:off x="819150" y="2263080"/>
            <a:ext cx="0" cy="2531963"/>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7900" y="2377380"/>
          <a:ext cx="10248900" cy="2316063"/>
        </p:xfrm>
        <a:graphic>
          <a:graphicData uri="http://schemas.openxmlformats.org/drawingml/2006/table">
            <a:tbl>
              <a:tblPr/>
              <a:tblGrid>
                <a:gridCol w="3074670"/>
                <a:gridCol w="7174230"/>
              </a:tblGrid>
              <a:tr h="386011">
                <a:tc>
                  <a:txBody>
                    <a:bodyPr/>
                    <a:lstStyle/>
                    <a:p>
                      <a:pPr indent="0" marL="0">
                        <a:lnSpc>
                          <a:spcPts val="1960"/>
                        </a:lnSpc>
                        <a:buNone/>
                      </a:pPr>
                      <a:r>
                        <a:rPr lang="en-US" sz="1400" b="1" dirty="0">
                          <a:solidFill>
                            <a:srgbClr val="26251E"/>
                          </a:solidFill>
                          <a:latin typeface="Inter" pitchFamily="34" charset="0"/>
                          <a:ea typeface="Inter" pitchFamily="34" charset="-122"/>
                          <a:cs typeface="Inter" pitchFamily="34" charset="-120"/>
                        </a:rPr>
                        <a:t>Part</a:t>
                      </a:r>
                      <a:endParaRPr lang="en-US" sz="1400" dirty="0">
                        <a:latin typeface="Inter" charset="0"/>
                        <a:ea typeface="Inter" charset="0"/>
                        <a:cs typeface="Inter" charset="0"/>
                      </a:endParaRPr>
                    </a:p>
                  </a:txBody>
                  <a:tcPr marL="62230" marR="62230" marT="62230" marB="62230" anchor="t">
                    <a:lnL w="0" cap="flat" cmpd="sng" algn="ctr">
                      <a:noFill/>
                    </a:lnL>
                    <a:lnR w="12700" cap="flat" cmpd="sng" algn="ctr">
                      <a:solidFill>
                        <a:srgbClr val="B7B7B4"/>
                      </a:solidFill>
                      <a:prstDash val="solid"/>
                      <a:round/>
                      <a:headEnd type="none" w="med" len="med"/>
                      <a:tailEnd type="none" w="med" len="med"/>
                    </a:lnR>
                    <a:lnT w="0" cap="flat" cmpd="sng" algn="ctr">
                      <a:noFill/>
                    </a:lnT>
                    <a:lnB w="12700" cap="flat" cmpd="sng" algn="ctr">
                      <a:solidFill>
                        <a:srgbClr val="B7B7B4"/>
                      </a:solidFill>
                      <a:prstDash val="solid"/>
                      <a:round/>
                      <a:headEnd type="none" w="med" len="med"/>
                      <a:tailEnd type="none" w="med" len="med"/>
                    </a:lnB>
                    <a:solidFill>
                      <a:srgbClr val="E5E5E2"/>
                    </a:solidFill>
                  </a:tcPr>
                </a:tc>
                <a:tc>
                  <a:txBody>
                    <a:bodyPr/>
                    <a:lstStyle/>
                    <a:p>
                      <a:pPr indent="0" marL="0">
                        <a:lnSpc>
                          <a:spcPts val="1960"/>
                        </a:lnSpc>
                        <a:buNone/>
                      </a:pPr>
                      <a:r>
                        <a:rPr lang="en-US" sz="1400" b="1" dirty="0">
                          <a:solidFill>
                            <a:srgbClr val="26251E"/>
                          </a:solidFill>
                          <a:latin typeface="Inter" pitchFamily="34" charset="0"/>
                          <a:ea typeface="Inter" pitchFamily="34" charset="-122"/>
                          <a:cs typeface="Inter" pitchFamily="34" charset="-120"/>
                        </a:rPr>
                        <a:t>What we used</a:t>
                      </a:r>
                      <a:endParaRPr lang="en-US" sz="1400" dirty="0">
                        <a:latin typeface="Inter" charset="0"/>
                        <a:ea typeface="Inter" charset="0"/>
                        <a:cs typeface="Inter" charset="0"/>
                      </a:endParaRPr>
                    </a:p>
                  </a:txBody>
                  <a:tcPr marL="62230" marR="62230" marT="62230" marB="62230" anchor="t">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0" cap="flat" cmpd="sng" algn="ctr">
                      <a:noFill/>
                    </a:lnT>
                    <a:lnB w="12700" cap="flat" cmpd="sng" algn="ctr">
                      <a:solidFill>
                        <a:srgbClr val="B7B7B4"/>
                      </a:solidFill>
                      <a:prstDash val="solid"/>
                      <a:round/>
                      <a:headEnd type="none" w="med" len="med"/>
                      <a:tailEnd type="none" w="med" len="med"/>
                    </a:lnB>
                    <a:solidFill>
                      <a:srgbClr val="E5E5E2"/>
                    </a:solidFill>
                  </a:tcPr>
                </a:tc>
              </a:tr>
              <a:tr h="386011">
                <a:tc>
                  <a:txBody>
                    <a:bodyPr/>
                    <a:lstStyle/>
                    <a:p>
                      <a:pPr indent="0" marL="0">
                        <a:lnSpc>
                          <a:spcPts val="1960"/>
                        </a:lnSpc>
                        <a:buNone/>
                      </a:pPr>
                      <a:r>
                        <a:rPr lang="en-US" sz="1400" dirty="0">
                          <a:solidFill>
                            <a:srgbClr val="26251E"/>
                          </a:solidFill>
                          <a:latin typeface="Inter" pitchFamily="34" charset="0"/>
                          <a:ea typeface="Inter" pitchFamily="34" charset="-122"/>
                          <a:cs typeface="Inter" pitchFamily="34" charset="-120"/>
                        </a:rPr>
                        <a:t>Chat interface</a:t>
                      </a:r>
                      <a:endParaRPr lang="en-US" sz="1400" dirty="0">
                        <a:latin typeface="Inter" charset="0"/>
                        <a:ea typeface="Inter" charset="0"/>
                        <a:cs typeface="Inter" charset="0"/>
                      </a:endParaRPr>
                    </a:p>
                  </a:txBody>
                  <a:tcPr marL="62230" marR="62230" marT="62230" marB="62230" anchor="t">
                    <a:lnL w="0" cap="flat" cmpd="sng" algn="ctr">
                      <a:noFill/>
                    </a:lnL>
                    <a:lnR w="12700" cap="flat" cmpd="sng" algn="ctr">
                      <a:solidFill>
                        <a:srgbClr val="C5C5C3"/>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960"/>
                        </a:lnSpc>
                        <a:buNone/>
                      </a:pPr>
                      <a:r>
                        <a:rPr lang="en-US" sz="1400" dirty="0">
                          <a:solidFill>
                            <a:srgbClr val="26251E"/>
                          </a:solidFill>
                          <a:latin typeface="Inter" pitchFamily="34" charset="0"/>
                          <a:ea typeface="Inter" pitchFamily="34" charset="-122"/>
                          <a:cs typeface="Inter" pitchFamily="34" charset="-120"/>
                        </a:rPr>
                        <a:t>Telegram bot (pyTelegramBotAPI), staff and manager roles</a:t>
                      </a:r>
                      <a:endParaRPr lang="en-US" sz="1400" dirty="0">
                        <a:latin typeface="Inter" charset="0"/>
                        <a:ea typeface="Inter" charset="0"/>
                        <a:cs typeface="Inter"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26251E"/>
                          </a:solidFill>
                          <a:latin typeface="Inter" pitchFamily="34" charset="0"/>
                          <a:ea typeface="Inter" pitchFamily="34" charset="-122"/>
                          <a:cs typeface="Inter" pitchFamily="34" charset="-120"/>
                        </a:rPr>
                        <a:t>AI forecast</a:t>
                      </a:r>
                      <a:endParaRPr lang="en-US" sz="1400" dirty="0">
                        <a:latin typeface="Inter" charset="0"/>
                        <a:ea typeface="Inter" charset="0"/>
                        <a:cs typeface="Inter" charset="0"/>
                      </a:endParaRPr>
                    </a:p>
                  </a:txBody>
                  <a:tcPr marL="62230" marR="62230" marT="62230" marB="62230" anchor="t">
                    <a:lnL w="0" cap="flat" cmpd="sng" algn="ctr">
                      <a:noFill/>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960"/>
                        </a:lnSpc>
                        <a:buNone/>
                      </a:pPr>
                      <a:r>
                        <a:rPr lang="en-US" sz="1400" dirty="0">
                          <a:solidFill>
                            <a:srgbClr val="26251E"/>
                          </a:solidFill>
                          <a:latin typeface="Inter" pitchFamily="34" charset="0"/>
                          <a:ea typeface="Inter" pitchFamily="34" charset="-122"/>
                          <a:cs typeface="Inter" pitchFamily="34" charset="-120"/>
                        </a:rPr>
                        <a:t>Python, scikit-learn, NumPy, Open-Meteo weather</a:t>
                      </a:r>
                      <a:endParaRPr lang="en-US" sz="1400" dirty="0">
                        <a:latin typeface="Inter" charset="0"/>
                        <a:ea typeface="Inter" charset="0"/>
                        <a:cs typeface="Inter"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26251E"/>
                          </a:solidFill>
                          <a:latin typeface="Inter" pitchFamily="34" charset="0"/>
                          <a:ea typeface="Inter" pitchFamily="34" charset="-122"/>
                          <a:cs typeface="Inter" pitchFamily="34" charset="-120"/>
                        </a:rPr>
                        <a:t>Dashboard &amp; API</a:t>
                      </a:r>
                      <a:endParaRPr lang="en-US" sz="1400" dirty="0">
                        <a:latin typeface="Inter" charset="0"/>
                        <a:ea typeface="Inter" charset="0"/>
                        <a:cs typeface="Inter" charset="0"/>
                      </a:endParaRPr>
                    </a:p>
                  </a:txBody>
                  <a:tcPr marL="62230" marR="62230" marT="62230" marB="62230" anchor="t">
                    <a:lnL w="0" cap="flat" cmpd="sng" algn="ctr">
                      <a:noFill/>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960"/>
                        </a:lnSpc>
                        <a:buNone/>
                      </a:pPr>
                      <a:r>
                        <a:rPr lang="en-US" sz="1400" dirty="0">
                          <a:solidFill>
                            <a:srgbClr val="26251E"/>
                          </a:solidFill>
                          <a:latin typeface="Inter" pitchFamily="34" charset="0"/>
                          <a:ea typeface="Inter" pitchFamily="34" charset="-122"/>
                          <a:cs typeface="Inter" pitchFamily="34" charset="-120"/>
                        </a:rPr>
                        <a:t>Flask, SQLite, APScheduler for the 2 PM plan</a:t>
                      </a:r>
                      <a:endParaRPr lang="en-US" sz="1400" dirty="0">
                        <a:latin typeface="Inter" charset="0"/>
                        <a:ea typeface="Inter" charset="0"/>
                        <a:cs typeface="Inter"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26251E"/>
                          </a:solidFill>
                          <a:latin typeface="Inter" pitchFamily="34" charset="0"/>
                          <a:ea typeface="Inter" pitchFamily="34" charset="-122"/>
                          <a:cs typeface="Inter" pitchFamily="34" charset="-120"/>
                        </a:rPr>
                        <a:t>Hosting</a:t>
                      </a:r>
                      <a:endParaRPr lang="en-US" sz="1400" dirty="0">
                        <a:latin typeface="Inter" charset="0"/>
                        <a:ea typeface="Inter" charset="0"/>
                        <a:cs typeface="Inter" charset="0"/>
                      </a:endParaRPr>
                    </a:p>
                  </a:txBody>
                  <a:tcPr marL="62230" marR="62230" marT="62230" marB="62230" anchor="t">
                    <a:lnL w="0" cap="flat" cmpd="sng" algn="ctr">
                      <a:noFill/>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960"/>
                        </a:lnSpc>
                        <a:buNone/>
                      </a:pPr>
                      <a:r>
                        <a:rPr lang="en-US" sz="1400" dirty="0">
                          <a:solidFill>
                            <a:srgbClr val="26251E"/>
                          </a:solidFill>
                          <a:latin typeface="Inter" pitchFamily="34" charset="0"/>
                          <a:ea typeface="Inter" pitchFamily="34" charset="-122"/>
                          <a:cs typeface="Inter" pitchFamily="34" charset="-120"/>
                        </a:rPr>
                        <a:t>Replit Deployments (Reserved VM, Asia), Replit Secrets</a:t>
                      </a:r>
                      <a:endParaRPr lang="en-US" sz="1400" dirty="0">
                        <a:latin typeface="Inter" charset="0"/>
                        <a:ea typeface="Inter" charset="0"/>
                        <a:cs typeface="Inter"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26251E"/>
                          </a:solidFill>
                          <a:latin typeface="Inter" pitchFamily="34" charset="0"/>
                          <a:ea typeface="Inter" pitchFamily="34" charset="-122"/>
                          <a:cs typeface="Inter" pitchFamily="34" charset="-120"/>
                        </a:rPr>
                        <a:t>Orbyte</a:t>
                      </a:r>
                      <a:endParaRPr lang="en-US" sz="1400" dirty="0">
                        <a:latin typeface="Inter" charset="0"/>
                        <a:ea typeface="Inter" charset="0"/>
                        <a:cs typeface="Inter" charset="0"/>
                      </a:endParaRPr>
                    </a:p>
                  </a:txBody>
                  <a:tcPr marL="62230" marR="62230" marT="62230" marB="62230" anchor="t">
                    <a:lnL w="0" cap="flat" cmpd="sng" algn="ctr">
                      <a:noFill/>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c>
                  <a:txBody>
                    <a:bodyPr/>
                    <a:lstStyle/>
                    <a:p>
                      <a:pPr indent="0" marL="0">
                        <a:lnSpc>
                          <a:spcPts val="1960"/>
                        </a:lnSpc>
                        <a:buNone/>
                      </a:pPr>
                      <a:r>
                        <a:rPr lang="en-US" sz="1400" dirty="0">
                          <a:solidFill>
                            <a:srgbClr val="26251E"/>
                          </a:solidFill>
                          <a:latin typeface="Inter" pitchFamily="34" charset="0"/>
                          <a:ea typeface="Inter" pitchFamily="34" charset="-122"/>
                          <a:cs typeface="Inter" pitchFamily="34" charset="-120"/>
                        </a:rPr>
                        <a:t>Built as an Orbyte-style module; POS data simulated</a:t>
                      </a:r>
                      <a:endParaRPr lang="en-US" sz="1400" dirty="0">
                        <a:latin typeface="Inter" charset="0"/>
                        <a:ea typeface="Inter" charset="0"/>
                        <a:cs typeface="Inter" charset="0"/>
                      </a:endParaRPr>
                    </a:p>
                  </a:txBody>
                  <a:tcPr marL="62230" marR="62230" marT="62230" marB="62230" anchor="t">
                    <a:lnL w="12700" cap="flat" cmpd="sng" algn="ctr">
                      <a:solidFill>
                        <a:srgbClr val="C5C5C3"/>
                      </a:solidFill>
                      <a:prstDash val="solid"/>
                      <a:round/>
                      <a:headEnd type="none" w="med" len="med"/>
                      <a:tailEnd type="none" w="med" len="med"/>
                    </a:lnL>
                    <a:lnR w="12700" cap="flat" cmpd="sng" algn="ctr">
                      <a:solidFill>
                        <a:srgbClr val="C5C5C3"/>
                      </a:solidFill>
                      <a:prstDash val="solid"/>
                      <a:round/>
                      <a:headEnd type="none" w="med" len="med"/>
                      <a:tailEnd type="none" w="med" len="med"/>
                    </a:lnR>
                    <a:lnT w="12700" cap="flat" cmpd="sng" algn="ctr">
                      <a:solidFill>
                        <a:srgbClr val="C5C5C3"/>
                      </a:solidFill>
                      <a:prstDash val="solid"/>
                      <a:round/>
                      <a:headEnd type="none" w="med" len="med"/>
                      <a:tailEnd type="none" w="med" len="med"/>
                    </a:lnT>
                    <a:lnB w="12700" cap="flat" cmpd="sng" algn="ctr">
                      <a:solidFill>
                        <a:srgbClr val="C5C5C3"/>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6251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7A46F"/>
                </a:solidFill>
                <a:latin typeface="Inter" pitchFamily="34" charset="0"/>
                <a:ea typeface="Inter" pitchFamily="34" charset="-122"/>
                <a:cs typeface="Inter" pitchFamily="34" charset="-120"/>
              </a:rPr>
              <a:t>WHAT’S NEXT</a:t>
            </a:r>
            <a:endParaRPr lang="en-US" sz="1200" dirty="0"/>
          </a:p>
        </p:txBody>
      </p:sp>
      <p:sp>
        <p:nvSpPr>
          <p:cNvPr id="3" name="Text 1"/>
          <p:cNvSpPr/>
          <p:nvPr/>
        </p:nvSpPr>
        <p:spPr>
          <a:xfrm>
            <a:off x="812800" y="2170460"/>
            <a:ext cx="334873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7F7F4"/>
                </a:solidFill>
                <a:latin typeface="Inter" pitchFamily="34" charset="0"/>
                <a:ea typeface="Inter" pitchFamily="34" charset="-122"/>
                <a:cs typeface="Inter" pitchFamily="34" charset="-120"/>
              </a:rPr>
              <a:t>Pilot</a:t>
            </a:r>
            <a:endParaRPr lang="en-US" sz="2200" dirty="0"/>
          </a:p>
        </p:txBody>
      </p:sp>
      <p:sp>
        <p:nvSpPr>
          <p:cNvPr id="4" name="Text 2"/>
          <p:cNvSpPr/>
          <p:nvPr/>
        </p:nvSpPr>
        <p:spPr>
          <a:xfrm>
            <a:off x="812800" y="2581920"/>
            <a:ext cx="3348736"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9C6BC"/>
                </a:solidFill>
                <a:latin typeface="Inter" pitchFamily="34" charset="0"/>
                <a:ea typeface="Inter" pitchFamily="34" charset="-122"/>
                <a:cs typeface="Inter" pitchFamily="34" charset="-120"/>
              </a:rPr>
              <a:t>Run it with a real independent bakery for a month.</a:t>
            </a:r>
            <a:endParaRPr lang="en-US" sz="1400" dirty="0"/>
          </a:p>
        </p:txBody>
      </p:sp>
      <p:sp>
        <p:nvSpPr>
          <p:cNvPr id="5" name="Text 3"/>
          <p:cNvSpPr/>
          <p:nvPr/>
        </p:nvSpPr>
        <p:spPr>
          <a:xfrm>
            <a:off x="4470400" y="2170460"/>
            <a:ext cx="334873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7F7F4"/>
                </a:solidFill>
                <a:latin typeface="Inter" pitchFamily="34" charset="0"/>
                <a:ea typeface="Inter" pitchFamily="34" charset="-122"/>
                <a:cs typeface="Inter" pitchFamily="34" charset="-120"/>
              </a:rPr>
              <a:t>Live POS sync</a:t>
            </a:r>
            <a:endParaRPr lang="en-US" sz="2200" dirty="0"/>
          </a:p>
        </p:txBody>
      </p:sp>
      <p:sp>
        <p:nvSpPr>
          <p:cNvPr id="6" name="Text 4"/>
          <p:cNvSpPr/>
          <p:nvPr/>
        </p:nvSpPr>
        <p:spPr>
          <a:xfrm>
            <a:off x="4470400" y="2581920"/>
            <a:ext cx="3348736"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9C6BC"/>
                </a:solidFill>
                <a:latin typeface="Inter" pitchFamily="34" charset="0"/>
                <a:ea typeface="Inter" pitchFamily="34" charset="-122"/>
                <a:cs typeface="Inter" pitchFamily="34" charset="-120"/>
              </a:rPr>
              <a:t>Read real sales from Orbyte instead of sample data.</a:t>
            </a:r>
            <a:endParaRPr lang="en-US" sz="1400" dirty="0"/>
          </a:p>
        </p:txBody>
      </p:sp>
      <p:sp>
        <p:nvSpPr>
          <p:cNvPr id="7" name="Text 5"/>
          <p:cNvSpPr/>
          <p:nvPr/>
        </p:nvSpPr>
        <p:spPr>
          <a:xfrm>
            <a:off x="8128000" y="2170460"/>
            <a:ext cx="3348736" cy="36066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7F7F4"/>
                </a:solidFill>
                <a:latin typeface="Inter" pitchFamily="34" charset="0"/>
                <a:ea typeface="Inter" pitchFamily="34" charset="-122"/>
                <a:cs typeface="Inter" pitchFamily="34" charset="-120"/>
              </a:rPr>
              <a:t>More shops</a:t>
            </a:r>
            <a:endParaRPr lang="en-US" sz="2200" dirty="0"/>
          </a:p>
        </p:txBody>
      </p:sp>
      <p:sp>
        <p:nvSpPr>
          <p:cNvPr id="8" name="Text 6"/>
          <p:cNvSpPr/>
          <p:nvPr/>
        </p:nvSpPr>
        <p:spPr>
          <a:xfrm>
            <a:off x="8128000" y="2581920"/>
            <a:ext cx="3348736"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9C6BC"/>
                </a:solidFill>
                <a:latin typeface="Inter" pitchFamily="34" charset="0"/>
                <a:ea typeface="Inter" pitchFamily="34" charset="-122"/>
                <a:cs typeface="Inter" pitchFamily="34" charset="-120"/>
              </a:rPr>
              <a:t>Cafés, kuih stalls and other fresh-food SMEs.</a:t>
            </a:r>
            <a:endParaRPr lang="en-US" sz="1400" dirty="0"/>
          </a:p>
        </p:txBody>
      </p:sp>
      <p:sp>
        <p:nvSpPr>
          <p:cNvPr id="9" name="Text 7"/>
          <p:cNvSpPr/>
          <p:nvPr>
            <p:ph type="title"/>
          </p:nvPr>
        </p:nvSpPr>
        <p:spPr>
          <a:xfrm>
            <a:off x="812800" y="424180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0" i="0" spc="-150" kern="0" dirty="0">
                <a:solidFill>
                  <a:srgbClr val="F7F7F4"/>
                </a:solidFill>
                <a:latin typeface="Inter" pitchFamily="34" charset="0"/>
                <a:ea typeface="Inter" pitchFamily="34" charset="-122"/>
                <a:cs typeface="Inter" pitchFamily="34" charset="-120"/>
              </a:rPr>
              <a:t>Bake just right.</a:t>
            </a:r>
            <a:endParaRPr lang="en-US" sz="6000" dirty="0"/>
          </a:p>
          <a:p>
            <a:pPr algn="l" indent="0" marL="0">
              <a:lnSpc>
                <a:spcPts val="6300"/>
              </a:lnSpc>
              <a:buNone/>
            </a:pPr>
            <a:r>
              <a:rPr lang="en-US" sz="6000" b="0" i="0" spc="-150" kern="0" dirty="0">
                <a:solidFill>
                  <a:srgbClr val="F7F7F4"/>
                </a:solidFill>
                <a:latin typeface="Inter" pitchFamily="34" charset="0"/>
                <a:ea typeface="Inter" pitchFamily="34" charset="-122"/>
                <a:cs typeface="Inter" pitchFamily="34" charset="-120"/>
              </a:rPr>
              <a:t>Thank you.</a:t>
            </a:r>
            <a:endParaRPr lang="en-US" sz="60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6BC"/>
                </a:solidFill>
                <a:latin typeface="Inter" pitchFamily="34" charset="0"/>
                <a:ea typeface="Inter" pitchFamily="34" charset="-122"/>
                <a:cs typeface="Inter" pitchFamily="34" charset="-120"/>
              </a:rPr>
              <a:t>Team Beginathon · github.com/derkglova/just-right · t.me/justright_bakery_bot</a:t>
            </a:r>
            <a:endParaRPr lang="en-US" sz="1200" dirty="0"/>
          </a:p>
        </p:txBody>
      </p:sp>
    </p:spTree>
  </p:cSld>
  <p:clrMapOvr>
    <a:masterClrMapping/>
  </p:clrMapOvr>
</p:sld>
</file>

<file path=ppt/theme/theme1.xml><?xml version="1.0" encoding="utf-8"?>
<a:theme xmlns:a="http://schemas.openxmlformats.org/drawingml/2006/main" name="Just Right – Pitch Deck">
  <a:themeElements>
    <a:clrScheme name="Just Right – Pitch Deck">
      <a:dk1>
        <a:srgbClr val="26251E"/>
      </a:dk1>
      <a:lt1>
        <a:srgbClr val="F7F7F4"/>
      </a:lt1>
      <a:dk2>
        <a:srgbClr val="5A5A54"/>
      </a:dk2>
      <a:lt2>
        <a:srgbClr val="E2E2DF"/>
      </a:lt2>
      <a:accent1>
        <a:srgbClr val="D04200"/>
      </a:accent1>
      <a:accent2>
        <a:srgbClr val="F7A46F"/>
      </a:accent2>
      <a:accent3>
        <a:srgbClr val="5A5852"/>
      </a:accent3>
      <a:accent4>
        <a:srgbClr val="C9C6BC"/>
      </a:accent4>
      <a:accent5>
        <a:srgbClr val="9AA0A6"/>
      </a:accent5>
      <a:accent6>
        <a:srgbClr val="7A7974"/>
      </a:accent6>
      <a:hlink>
        <a:srgbClr val="0563C1"/>
      </a:hlink>
      <a:folHlink>
        <a:srgbClr val="954F72"/>
      </a:folHlink>
    </a:clrScheme>
    <a:fontScheme name="Just Right – Pitch Deck">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Just Right – Pitch Deck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2026-10-25T01:10:03Z</dcterms:created>
  <dcterms:modified xsi:type="dcterms:W3CDTF">2026-10-25T01:10:03Z</dcterms:modified>
</cp:coreProperties>
</file>